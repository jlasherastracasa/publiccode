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é es PublicCode" id="{f66d354c-2a89-884a-f434-7c4f66738bd7}">
          <p14:sldIdLst>
            <p14:sldId id="256"/>
            <p14:sldId id="257"/>
            <p14:sldId id="258"/>
          </p14:sldIdLst>
        </p14:section>
        <p14:section name="Por qué cambiar" id="{a810629d-a202-6e3d-616c-da28afb6b453}">
          <p14:sldIdLst>
            <p14:sldId id="259"/>
            <p14:sldId id="260"/>
            <p14:sldId id="261"/>
            <p14:sldId id="262"/>
          </p14:sldIdLst>
        </p14:section>
        <p14:section name="Funciones extra" id="{c6b2714e-8d8f-e55e-6c69-964d7a4ef912}">
          <p14:sldIdLst>
            <p14:sldId id="263"/>
            <p14:sldId id="264"/>
            <p14:sldId id="265"/>
            <p14:sldId id="266"/>
            <p14:sldId id="267"/>
            <p14:sldId id="268"/>
            <p14:sldId id="269"/>
            <p14:sldId id="270"/>
          </p14:sldIdLst>
        </p14:section>
        <p14:section name="Instalación" id="{822ab326-ae11-03f6-bfbf-5553573a413b}">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PublicCode es una herramienta de programación con agentes para Linux y Windows: un editor en el navegador (Studio), una interfaz de terminal (TUI) y un motor que hace que cualquier agente —el propio o Claude Code, Copilot, Gemini u opencode— trabaje con reglas de seguridad, puntos de control y auditoría.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datos para situarlo: un solo binario en Rust, cuatro formas de usarlo, ocho proveedores de modelos listos en un clic y ninguna telemetría.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toda la lógica vive en el núcleo (pcoded). Los clientes —TUI, Studio, chat y la app Android— solo muestran el estado y envían peticiones. El núcleo habla con modelos en la nube o locales y puede dirigir agentes externos dentro de mini sandboxes.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comparaciones honestas: qué trae PublicCode de serie que en VS Code depende de extensiones, y qué pasa alrededor del agente que opencode no cubre.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resume la diferencia: en VS Code el agente llega con extensiones; en PublicCode es parte del editor y se puede deshacer, revisar y auditar. Somos honestos: el depurador y las extensiones están en el plan de la 1.x.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por Studio: explorador con git, migas de pan con el símbolo, el agente en el panel derecho y, al final de cada turno, una tarjeta con los archivos cambiados que se puede deshacer o revisar.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opencode es un buen agente de terminal y PublicCode cubre lo mismo en la TUI. La diferencia está alrededor: un editor completo, agentes externos en sandbox, política del motor, flujos con aceptación y el móvil.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 diferencial: el asistente, cómo trabaja el agente en cada turno y la seguridad en capas.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asistente arma el contexto que cada tarea necesita. Por ejemplo, para arreglar un error no le pasa solo el mensaje: le pasa el archivo, la línea, la función que lo contiene y el código alrededor, que es lo que muestra SHERLOC.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trabaja el agente en cada turno. Cada paso responde a un problema medido en un paper: suponer en lugar de preguntar, gastar contexto leyendo archivos enteros, reescribir de más, entregar sin comprobar y no poder volver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no depende de lo que diga el prompt: la impone el motor, en capas. Aunque un archivo envenenado le diga al agente que borre algo, la política lo deniega o te lo pregunta, y todo queda auditado.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momentos del día a día: un error que aparece en el editor se arregla en un clic, y antes de hacer commit el asistente revisa los cambios y escribe el mensaje.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1.1 mejora al agente propio: localiza el código antes de leerlo, pregunta cuando la petición es ambigua, recuerda las decisiones del proyecto, comprueba antes de terminar y enseña cuánto cuestan los esquemas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modelos se configuran como prefieras: en el archivo pcode.toml, con pcode config proveedor en la terminal o desde la pantalla de Ajustes de Studio. Las claves nunca se escriben en archivos: cada proveedor lee la suya de una variable de entorno, y la pantalla dice si está definida.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decisiones salen de la investigación reciente: una herramienta del repo descarga y puntúa las actas de ACL y EMNLP 2026, y docs/papers.md recoge qué cambia en PublicCode por cada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Instalar PublicCode es una línea en cada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curl -fsSL https://raw.githubusercontent.com/jlasherasTracasa/PublicCode/main/install.sh | sh. Windows: irm https://raw.githubusercontent.com/jlasherasTracasa/PublicCode/main/install.ps1 | iex. Después, una clave en una variable de entorno o un modelo local desde Ajustes, y pcode o pcode studio en la carpeta del proyecto. pcode doctor dice qué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Funciona igual en Linux y en Windows. La única diferencia está en el aislamiento de los agentes externos: en Linux, overlay con namespaces y sin red; en Windows, git worktree (o N1 dentro de WSL2).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empezar: instalar con una línea, pcode doctor para comprobar, y pcode o pcode studio en la carpeta del proyecto. Toda la documentación está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PORTADA-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C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8229600" cy="457200"/>
          </a:xfrm>
          <a:prstGeom prst="rect">
            <a:avLst/>
          </a:prstGeom>
          <a:noFill/>
          <a:ln/>
        </p:spPr>
        <p:txBody>
          <a:bodyPr wrap="square" rtlCol="0"/>
          <a:lstStyle>
            <a:lvl1pPr indent="0" marL="0">
              <a:buNone/>
              <a:defRPr lang="en-US" sz="1600" b="1" spc="300" kern="0" dirty="0">
                <a:solidFill>
                  <a:schemeClr val="accent3"/>
                </a:solidFill>
              </a:defRPr>
            </a:lvl1pPr>
          </a:lstStyle>
          <a:p>
            <a:pPr indent="0" marL="0">
              <a:buNone/>
            </a:pPr>
            <a:endParaRPr lang="en-US" sz="1600" dirty="0"/>
          </a:p>
        </p:txBody>
      </p:sp>
      <p:sp>
        <p:nvSpPr>
          <p:cNvPr id="3" name="Text 0"/>
          <p:cNvSpPr/>
          <p:nvPr>
            <p:ph idx="101" type="title" hasCustomPrompt="1"/>
          </p:nvPr>
        </p:nvSpPr>
        <p:spPr>
          <a:xfrm>
            <a:off x="731520" y="2606040"/>
            <a:ext cx="105156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840480"/>
            <a:ext cx="9601200" cy="914400"/>
          </a:xfrm>
          <a:prstGeom prst="rect">
            <a:avLst/>
          </a:prstGeom>
          <a:noFill/>
          <a:ln/>
        </p:spPr>
        <p:txBody>
          <a:bodyPr wrap="square" rtlCol="0"/>
          <a:lstStyle>
            <a:lvl1pPr indent="0" marL="0">
              <a:buNone/>
              <a:defRPr lang="en-US" sz="1800" dirty="0">
                <a:solidFill>
                  <a:srgbClr val="CFE0FB"/>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2743200" cy="274320"/>
          </a:xfrm>
          <a:prstGeom prst="rect">
            <a:avLst/>
          </a:prstGeom>
          <a:noFill/>
          <a:ln/>
        </p:spPr>
        <p:txBody>
          <a:bodyPr wrap="square" rtlCol="0" anchor="ctr"/>
          <a:lstStyle/>
          <a:p>
            <a:pPr indent="0" marL="0">
              <a:buNone/>
            </a:pPr>
            <a:r>
              <a:rPr lang="en-US" sz="1000" dirty="0">
                <a:solidFill>
                  <a:srgbClr val="475A75"/>
                </a:solidFill>
                <a:latin typeface="Courier New" pitchFamily="34" charset="0"/>
                <a:ea typeface="Courier New" pitchFamily="34" charset="-122"/>
                <a:cs typeface="Courier New" pitchFamily="34" charset="-120"/>
              </a:rPr>
              <a:t>&gt;_ PublicCode</a:t>
            </a:r>
            <a:endParaRPr lang="en-US" sz="1000" dirty="0"/>
          </a:p>
        </p:txBody>
      </p:sp>
      <p:sp>
        <p:nvSpPr>
          <p:cNvPr id="3" name="Text 1"/>
          <p:cNvSpPr/>
          <p:nvPr>
            <p:ph idx="101"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4.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4.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cNvSpPr/>
          <p:nvPr/>
        </p:nvSpPr>
        <p:spPr>
          <a:xfrm>
            <a:off x="731520" y="914400"/>
            <a:ext cx="868680" cy="868680"/>
          </a:xfrm>
          <a:prstGeom prst="roundRect">
            <a:avLst>
              <a:gd name="adj" fmla="val 23158"/>
            </a:avLst>
          </a:prstGeom>
          <a:solidFill>
            <a:srgbClr val="FFFFFF">
              <a:alpha val="18000"/>
            </a:srgbClr>
          </a:solidFill>
          <a:ln w="12700">
            <a:solidFill>
              <a:srgbClr val="FFFFFF">
                <a:alpha val="40000"/>
              </a:srgbClr>
            </a:solidFill>
            <a:prstDash val="solid"/>
          </a:ln>
        </p:spPr>
      </p:sp>
      <p:sp>
        <p:nvSpPr>
          <p:cNvPr id="3" name="Text 1"/>
          <p:cNvSpPr txBox="1"/>
          <p:nvPr/>
        </p:nvSpPr>
        <p:spPr>
          <a:xfrm>
            <a:off x="731520" y="914400"/>
            <a:ext cx="868680" cy="868680"/>
          </a:xfrm>
          <a:prstGeom prst="rect">
            <a:avLst/>
          </a:prstGeom>
          <a:no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&gt;_</a:t>
            </a:r>
            <a:endParaRPr lang="en-US" sz="3000" dirty="0"/>
          </a:p>
        </p:txBody>
      </p:sp>
      <p:sp>
        <p:nvSpPr>
          <p:cNvPr id="4" name="Text 2"/>
          <p:cNvSpPr txBox="1"/>
          <p:nvPr/>
        </p:nvSpPr>
        <p:spPr>
          <a:xfrm>
            <a:off x="731520" y="2011680"/>
            <a:ext cx="566928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PublicCode</a:t>
            </a:r>
            <a:endParaRPr lang="en-US" sz="5400" dirty="0"/>
          </a:p>
        </p:txBody>
      </p:sp>
      <p:sp>
        <p:nvSpPr>
          <p:cNvPr id="5" name="Text 3"/>
          <p:cNvSpPr txBox="1"/>
          <p:nvPr/>
        </p:nvSpPr>
        <p:spPr>
          <a:xfrm>
            <a:off x="731520" y="2971800"/>
            <a:ext cx="5212080" cy="914400"/>
          </a:xfrm>
          <a:prstGeom prst="rect">
            <a:avLst/>
          </a:prstGeom>
          <a:noFill/>
          <a:ln/>
        </p:spPr>
        <p:txBody>
          <a:bodyPr wrap="square" lIns="0" tIns="0" rIns="0" bIns="0" rtlCol="0" anchor="t"/>
          <a:lstStyle/>
          <a:p>
            <a:pPr indent="0" marL="0">
              <a:buNone/>
            </a:pPr>
            <a:r>
              <a:rPr lang="en-US" sz="2200" dirty="0">
                <a:solidFill>
                  <a:srgbClr val="DCE8FF"/>
                </a:solidFill>
              </a:rPr>
              <a:t>El entorno de programación con agentes que no rompe nada</a:t>
            </a:r>
            <a:endParaRPr lang="en-US" sz="2200" dirty="0"/>
          </a:p>
        </p:txBody>
      </p:sp>
      <p:sp>
        <p:nvSpPr>
          <p:cNvPr id="6" name="Text 4"/>
          <p:cNvSpPr txBox="1"/>
          <p:nvPr/>
        </p:nvSpPr>
        <p:spPr>
          <a:xfrm>
            <a:off x="731520" y="4069080"/>
            <a:ext cx="5029200" cy="822960"/>
          </a:xfrm>
          <a:prstGeom prst="rect">
            <a:avLst/>
          </a:prstGeom>
          <a:noFill/>
          <a:ln/>
        </p:spPr>
        <p:txBody>
          <a:bodyPr wrap="square" lIns="0" tIns="0" rIns="0" bIns="0" rtlCol="0" anchor="t"/>
          <a:lstStyle/>
          <a:p>
            <a:pPr indent="0" marL="0">
              <a:buNone/>
            </a:pPr>
            <a:r>
              <a:rPr lang="en-US" sz="1400" dirty="0">
                <a:solidFill>
                  <a:srgbClr val="9FB3D1"/>
                </a:solidFill>
              </a:rPr>
              <a:t>Editor en el navegador · Terminal · Tu agente y los de siempre (Claude Code, Copilot, Gemini, opencode) · Linux y Windows</a:t>
            </a:r>
            <a:endParaRPr lang="en-US" sz="1400" dirty="0"/>
          </a:p>
        </p:txBody>
      </p:sp>
      <p:sp>
        <p:nvSpPr>
          <p:cNvPr id="7" name="píldora v1.1"/>
          <p:cNvSpPr/>
          <p:nvPr/>
        </p:nvSpPr>
        <p:spPr>
          <a:xfrm>
            <a:off x="731520" y="5166360"/>
            <a:ext cx="1143000" cy="384048"/>
          </a:xfrm>
          <a:prstGeom prst="roundRect">
            <a:avLst>
              <a:gd name="adj" fmla="val 50000"/>
            </a:avLst>
          </a:prstGeom>
          <a:solidFill>
            <a:srgbClr val="6F5CFF"/>
          </a:solidFill>
          <a:ln/>
        </p:spPr>
      </p:sp>
      <p:sp>
        <p:nvSpPr>
          <p:cNvPr id="8" name="Text 6"/>
          <p:cNvSpPr txBox="1"/>
          <p:nvPr/>
        </p:nvSpPr>
        <p:spPr>
          <a:xfrm>
            <a:off x="731520" y="5166360"/>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rPr>
              <a:t>v1.1</a:t>
            </a:r>
            <a:endParaRPr lang="en-US" sz="1300" dirty="0"/>
          </a:p>
        </p:txBody>
      </p:sp>
      <p:sp>
        <p:nvSpPr>
          <p:cNvPr id="9" name="píldora Rust · un binario"/>
          <p:cNvSpPr/>
          <p:nvPr/>
        </p:nvSpPr>
        <p:spPr>
          <a:xfrm>
            <a:off x="2011680" y="5166360"/>
            <a:ext cx="2011680" cy="384048"/>
          </a:xfrm>
          <a:prstGeom prst="roundRect">
            <a:avLst>
              <a:gd name="adj" fmla="val 50000"/>
            </a:avLst>
          </a:prstGeom>
          <a:solidFill>
            <a:srgbClr val="16335C"/>
          </a:solidFill>
          <a:ln/>
        </p:spPr>
      </p:sp>
      <p:sp>
        <p:nvSpPr>
          <p:cNvPr id="10" name="Text 8"/>
          <p:cNvSpPr txBox="1"/>
          <p:nvPr/>
        </p:nvSpPr>
        <p:spPr>
          <a:xfrm>
            <a:off x="2011680" y="5166360"/>
            <a:ext cx="2011680" cy="384048"/>
          </a:xfrm>
          <a:prstGeom prst="rect">
            <a:avLst/>
          </a:prstGeom>
          <a:noFill/>
          <a:ln/>
        </p:spPr>
        <p:txBody>
          <a:bodyPr wrap="square" lIns="0" tIns="0" rIns="0" bIns="0" rtlCol="0" anchor="ctr"/>
          <a:lstStyle/>
          <a:p>
            <a:pPr algn="ctr" indent="0" marL="0">
              <a:buNone/>
            </a:pPr>
            <a:r>
              <a:rPr lang="en-US" sz="1200" b="1" dirty="0">
                <a:solidFill>
                  <a:srgbClr val="CFE0FB"/>
                </a:solidFill>
              </a:rPr>
              <a:t>Rust · un binario</a:t>
            </a:r>
            <a:endParaRPr lang="en-US" sz="1200" dirty="0"/>
          </a:p>
        </p:txBody>
      </p:sp>
      <p:sp>
        <p:nvSpPr>
          <p:cNvPr id="11" name="píldora Apache-2.0"/>
          <p:cNvSpPr/>
          <p:nvPr/>
        </p:nvSpPr>
        <p:spPr>
          <a:xfrm>
            <a:off x="4160520" y="5166360"/>
            <a:ext cx="1691640" cy="384048"/>
          </a:xfrm>
          <a:prstGeom prst="roundRect">
            <a:avLst>
              <a:gd name="adj" fmla="val 50000"/>
            </a:avLst>
          </a:prstGeom>
          <a:solidFill>
            <a:srgbClr val="16335C"/>
          </a:solidFill>
          <a:ln/>
        </p:spPr>
      </p:sp>
      <p:sp>
        <p:nvSpPr>
          <p:cNvPr id="12" name="Text 10"/>
          <p:cNvSpPr txBox="1"/>
          <p:nvPr/>
        </p:nvSpPr>
        <p:spPr>
          <a:xfrm>
            <a:off x="4160520" y="5166360"/>
            <a:ext cx="1691640" cy="384048"/>
          </a:xfrm>
          <a:prstGeom prst="rect">
            <a:avLst/>
          </a:prstGeom>
          <a:noFill/>
          <a:ln/>
        </p:spPr>
        <p:txBody>
          <a:bodyPr wrap="square" lIns="0" tIns="0" rIns="0" bIns="0" rtlCol="0" anchor="ctr"/>
          <a:lstStyle/>
          <a:p>
            <a:pPr algn="ctr" indent="0" marL="0">
              <a:buNone/>
            </a:pPr>
            <a:r>
              <a:rPr lang="en-US" sz="1200" b="1" dirty="0">
                <a:solidFill>
                  <a:srgbClr val="CFE0FB"/>
                </a:solidFill>
              </a:rPr>
              <a:t>Apache-2.0</a:t>
            </a:r>
            <a:endParaRPr lang="en-US" sz="1200" dirty="0"/>
          </a:p>
        </p:txBody>
      </p:sp>
      <p:pic>
        <p:nvPicPr>
          <p:cNvPr id="13" name="Image 0" descr="PublicCode Studio en tema oscuro">    </p:cNvPr>
          <p:cNvPicPr>
            <a:picLocks noChangeAspect="1"/>
          </p:cNvPicPr>
          <p:nvPr/>
        </p:nvPicPr>
        <p:blipFill>
          <a:blip r:embed="rId1"/>
          <a:stretch>
            <a:fillRect/>
          </a:stretch>
        </p:blipFill>
        <p:spPr>
          <a:xfrm>
            <a:off x="6309360" y="1143000"/>
            <a:ext cx="5486400" cy="3429000"/>
          </a:xfrm>
          <a:prstGeom prst="rect">
            <a:avLst/>
          </a:prstGeom>
          <a:effectLst>
            <a:outerShdw sx="100000" sy="100000" kx="0" ky="0" algn="bl" rotWithShape="0" blurRad="228600" dist="76200" dir="5400000">
              <a:srgbClr val="000000">
                <a:alpha val="45000"/>
              </a:srgbClr>
            </a:outerShdw>
          </a:effectLst>
        </p:spPr>
      </p:pic>
      <p:pic>
        <p:nvPicPr>
          <p:cNvPr id="14" name="Image 1" descr="La TUI de PublicCode">    </p:cNvPr>
          <p:cNvPicPr>
            <a:picLocks noChangeAspect="1"/>
          </p:cNvPicPr>
          <p:nvPr/>
        </p:nvPicPr>
        <p:blipFill>
          <a:blip r:embed="rId2"/>
          <a:stretch>
            <a:fillRect/>
          </a:stretch>
        </p:blipFill>
        <p:spPr>
          <a:xfrm>
            <a:off x="8503920" y="3657600"/>
            <a:ext cx="3291840" cy="2241253"/>
          </a:xfrm>
          <a:prstGeom prst="rect">
            <a:avLst/>
          </a:prstGeom>
          <a:effectLst>
            <a:outerShdw sx="100000" sy="100000" kx="0" ky="0" algn="bl" rotWithShape="0" blurRad="177800" dist="63500" dir="5400000">
              <a:srgbClr val="000000">
                <a:alpha val="4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Un entorno completo, no otro chat</a:t>
            </a:r>
            <a:endParaRPr lang="en-US" sz="3200" dirty="0"/>
          </a:p>
        </p:txBody>
      </p:sp>
      <p:sp>
        <p:nvSpPr>
          <p:cNvPr id="3" name="Text 1"/>
          <p:cNvSpPr txBox="1"/>
          <p:nvPr/>
        </p:nvSpPr>
        <p:spPr>
          <a:xfrm>
            <a:off x="548640" y="1188720"/>
            <a:ext cx="11064240" cy="731520"/>
          </a:xfrm>
          <a:prstGeom prst="rect">
            <a:avLst/>
          </a:prstGeom>
          <a:noFill/>
          <a:ln/>
        </p:spPr>
        <p:txBody>
          <a:bodyPr wrap="square" lIns="0" tIns="0" rIns="0" bIns="0" rtlCol="0" anchor="t"/>
          <a:lstStyle/>
          <a:p>
            <a:pPr indent="0" marL="0">
              <a:buNone/>
            </a:pPr>
            <a:r>
              <a:rPr lang="en-US" sz="1700" dirty="0">
                <a:solidFill>
                  <a:schemeClr val="tx2"/>
                </a:solidFill>
              </a:rPr>
              <a:t>PublicCode junta en un solo binario el editor, la terminal y el agente, y le pone alrededor lo que falta para usarlo en serio: reglas que impone el motor, deshacer, revisión y verificación.</a:t>
            </a:r>
            <a:endParaRPr lang="en-US" sz="1700" dirty="0"/>
          </a:p>
        </p:txBody>
      </p:sp>
      <p:sp>
        <p:nvSpPr>
          <p:cNvPr id="4" name="dato binario"/>
          <p:cNvSpPr/>
          <p:nvPr/>
        </p:nvSpPr>
        <p:spPr>
          <a:xfrm>
            <a:off x="548640" y="2377440"/>
            <a:ext cx="2606040" cy="3291840"/>
          </a:xfrm>
          <a:prstGeom prst="roundRect">
            <a:avLst>
              <a:gd name="adj" fmla="val 6316"/>
            </a:avLst>
          </a:prstGeom>
          <a:solidFill>
            <a:schemeClr val="bg2"/>
          </a:solidFill>
          <a:ln/>
          <a:effectLst>
            <a:outerShdw sx="100000" sy="100000" kx="0" ky="0" algn="bl" rotWithShape="0" blurRad="127000" dist="38100" dir="5400000">
              <a:srgbClr val="0B1B33">
                <a:alpha val="16000"/>
              </a:srgbClr>
            </a:outerShdw>
          </a:effectLst>
        </p:spPr>
      </p:sp>
      <p:sp>
        <p:nvSpPr>
          <p:cNvPr id="5" name="icono FiPackage"/>
          <p:cNvSpPr/>
          <p:nvPr/>
        </p:nvSpPr>
        <p:spPr>
          <a:xfrm>
            <a:off x="822960" y="2651760"/>
            <a:ext cx="658368" cy="658368"/>
          </a:xfrm>
          <a:prstGeom prst="ellipse">
            <a:avLst/>
          </a:prstGeom>
          <a:solidFill>
            <a:srgbClr val="0B57D0"/>
          </a:solidFill>
          <a:ln/>
        </p:spPr>
      </p:sp>
      <p:pic>
        <p:nvPicPr>
          <p:cNvPr id="6" name="Image 0" descr="FiPackage">    </p:cNvPr>
          <p:cNvPicPr>
            <a:picLocks noChangeAspect="1"/>
          </p:cNvPicPr>
          <p:nvPr/>
        </p:nvPicPr>
        <p:blipFill>
          <a:blip r:embed="rId1"/>
          <a:stretch>
            <a:fillRect/>
          </a:stretch>
        </p:blipFill>
        <p:spPr>
          <a:xfrm>
            <a:off x="980968" y="2809768"/>
            <a:ext cx="342351" cy="342351"/>
          </a:xfrm>
          <a:prstGeom prst="rect">
            <a:avLst/>
          </a:prstGeom>
        </p:spPr>
      </p:pic>
      <p:sp>
        <p:nvSpPr>
          <p:cNvPr id="7" name="Text 4"/>
          <p:cNvSpPr txBox="1"/>
          <p:nvPr/>
        </p:nvSpPr>
        <p:spPr>
          <a:xfrm>
            <a:off x="822960" y="3429000"/>
            <a:ext cx="2103120" cy="914400"/>
          </a:xfrm>
          <a:prstGeom prst="rect">
            <a:avLst/>
          </a:prstGeom>
          <a:noFill/>
          <a:ln/>
        </p:spPr>
        <p:txBody>
          <a:bodyPr wrap="square" lIns="0" tIns="0" rIns="0" bIns="0" rtlCol="0" anchor="t"/>
          <a:lstStyle/>
          <a:p>
            <a:pPr indent="0" marL="0">
              <a:buNone/>
            </a:pPr>
            <a:r>
              <a:rPr lang="en-US" sz="6000" b="1" dirty="0">
                <a:solidFill>
                  <a:srgbClr val="0B57D0"/>
                </a:solidFill>
                <a:latin typeface="Arial" pitchFamily="34" charset="0"/>
                <a:ea typeface="Arial" pitchFamily="34" charset="-122"/>
                <a:cs typeface="Arial" pitchFamily="34" charset="-120"/>
              </a:rPr>
              <a:t>1</a:t>
            </a:r>
            <a:endParaRPr lang="en-US" sz="6000" dirty="0"/>
          </a:p>
        </p:txBody>
      </p:sp>
      <p:sp>
        <p:nvSpPr>
          <p:cNvPr id="8" name="Text 5"/>
          <p:cNvSpPr txBox="1"/>
          <p:nvPr/>
        </p:nvSpPr>
        <p:spPr>
          <a:xfrm>
            <a:off x="822960" y="4297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binario</a:t>
            </a:r>
            <a:endParaRPr lang="en-US" sz="1800" dirty="0"/>
          </a:p>
        </p:txBody>
      </p:sp>
      <p:sp>
        <p:nvSpPr>
          <p:cNvPr id="9" name="Text 6"/>
          <p:cNvSpPr txBox="1"/>
          <p:nvPr/>
        </p:nvSpPr>
        <p:spPr>
          <a:xfrm>
            <a:off x="822960" y="4754880"/>
            <a:ext cx="2103120" cy="822960"/>
          </a:xfrm>
          <a:prstGeom prst="rect">
            <a:avLst/>
          </a:prstGeom>
          <a:noFill/>
          <a:ln/>
        </p:spPr>
        <p:txBody>
          <a:bodyPr wrap="square" lIns="0" tIns="0" rIns="0" bIns="0" rtlCol="0" anchor="t"/>
          <a:lstStyle/>
          <a:p>
            <a:pPr indent="0" marL="0">
              <a:buNone/>
            </a:pPr>
            <a:r>
              <a:rPr lang="en-US" sz="1300" dirty="0">
                <a:solidFill>
                  <a:srgbClr val="475A75"/>
                </a:solidFill>
              </a:rPr>
              <a:t>para Linux y Windows, sin dependencias; Studio corre en tu navegador</a:t>
            </a:r>
            <a:endParaRPr lang="en-US" sz="1300" dirty="0"/>
          </a:p>
        </p:txBody>
      </p:sp>
      <p:sp>
        <p:nvSpPr>
          <p:cNvPr id="10" name="dato interfaces"/>
          <p:cNvSpPr/>
          <p:nvPr/>
        </p:nvSpPr>
        <p:spPr>
          <a:xfrm>
            <a:off x="3383280" y="2377440"/>
            <a:ext cx="2606040" cy="3291840"/>
          </a:xfrm>
          <a:prstGeom prst="roundRect">
            <a:avLst>
              <a:gd name="adj" fmla="val 6316"/>
            </a:avLst>
          </a:prstGeom>
          <a:solidFill>
            <a:schemeClr val="bg2"/>
          </a:solidFill>
          <a:ln/>
          <a:effectLst>
            <a:outerShdw sx="100000" sy="100000" kx="0" ky="0" algn="bl" rotWithShape="0" blurRad="127000" dist="38100" dir="5400000">
              <a:srgbClr val="0B1B33">
                <a:alpha val="16000"/>
              </a:srgbClr>
            </a:outerShdw>
          </a:effectLst>
        </p:spPr>
      </p:sp>
      <p:sp>
        <p:nvSpPr>
          <p:cNvPr id="11" name="icono FiMonitor"/>
          <p:cNvSpPr/>
          <p:nvPr/>
        </p:nvSpPr>
        <p:spPr>
          <a:xfrm>
            <a:off x="3657600" y="2651760"/>
            <a:ext cx="658368" cy="658368"/>
          </a:xfrm>
          <a:prstGeom prst="ellipse">
            <a:avLst/>
          </a:prstGeom>
          <a:solidFill>
            <a:srgbClr val="6F5CFF"/>
          </a:solidFill>
          <a:ln/>
        </p:spPr>
      </p:sp>
      <p:pic>
        <p:nvPicPr>
          <p:cNvPr id="12" name="Image 1" descr="FiMonitor">    </p:cNvPr>
          <p:cNvPicPr>
            <a:picLocks noChangeAspect="1"/>
          </p:cNvPicPr>
          <p:nvPr/>
        </p:nvPicPr>
        <p:blipFill>
          <a:blip r:embed="rId2"/>
          <a:stretch>
            <a:fillRect/>
          </a:stretch>
        </p:blipFill>
        <p:spPr>
          <a:xfrm>
            <a:off x="3815608" y="2809768"/>
            <a:ext cx="342351" cy="342351"/>
          </a:xfrm>
          <a:prstGeom prst="rect">
            <a:avLst/>
          </a:prstGeom>
        </p:spPr>
      </p:pic>
      <p:sp>
        <p:nvSpPr>
          <p:cNvPr id="13" name="Text 9"/>
          <p:cNvSpPr txBox="1"/>
          <p:nvPr/>
        </p:nvSpPr>
        <p:spPr>
          <a:xfrm>
            <a:off x="3657600" y="3429000"/>
            <a:ext cx="2103120" cy="914400"/>
          </a:xfrm>
          <a:prstGeom prst="rect">
            <a:avLst/>
          </a:prstGeom>
          <a:noFill/>
          <a:ln/>
        </p:spPr>
        <p:txBody>
          <a:bodyPr wrap="square" lIns="0" tIns="0" rIns="0" bIns="0" rtlCol="0" anchor="t"/>
          <a:lstStyle/>
          <a:p>
            <a:pPr indent="0" marL="0">
              <a:buNone/>
            </a:pPr>
            <a:r>
              <a:rPr lang="en-US" sz="6000" b="1" dirty="0">
                <a:solidFill>
                  <a:srgbClr val="6F5CFF"/>
                </a:solidFill>
                <a:latin typeface="Arial" pitchFamily="34" charset="0"/>
                <a:ea typeface="Arial" pitchFamily="34" charset="-122"/>
                <a:cs typeface="Arial" pitchFamily="34" charset="-120"/>
              </a:rPr>
              <a:t>4</a:t>
            </a:r>
            <a:endParaRPr lang="en-US" sz="6000" dirty="0"/>
          </a:p>
        </p:txBody>
      </p:sp>
      <p:sp>
        <p:nvSpPr>
          <p:cNvPr id="14" name="Text 10"/>
          <p:cNvSpPr txBox="1"/>
          <p:nvPr/>
        </p:nvSpPr>
        <p:spPr>
          <a:xfrm>
            <a:off x="3657600" y="4297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interfaces</a:t>
            </a:r>
            <a:endParaRPr lang="en-US" sz="1800" dirty="0"/>
          </a:p>
        </p:txBody>
      </p:sp>
      <p:sp>
        <p:nvSpPr>
          <p:cNvPr id="15" name="Text 11"/>
          <p:cNvSpPr txBox="1"/>
          <p:nvPr/>
        </p:nvSpPr>
        <p:spPr>
          <a:xfrm>
            <a:off x="3657600" y="4754880"/>
            <a:ext cx="2103120" cy="822960"/>
          </a:xfrm>
          <a:prstGeom prst="rect">
            <a:avLst/>
          </a:prstGeom>
          <a:noFill/>
          <a:ln/>
        </p:spPr>
        <p:txBody>
          <a:bodyPr wrap="square" lIns="0" tIns="0" rIns="0" bIns="0" rtlCol="0" anchor="t"/>
          <a:lstStyle/>
          <a:p>
            <a:pPr indent="0" marL="0">
              <a:buNone/>
            </a:pPr>
            <a:r>
              <a:rPr lang="en-US" sz="1300" dirty="0">
                <a:solidFill>
                  <a:srgbClr val="475A75"/>
                </a:solidFill>
              </a:rPr>
              <a:t>TUI, chat y scripts, Studio y app Android para aprobar desde el móvil</a:t>
            </a:r>
            <a:endParaRPr lang="en-US" sz="1300" dirty="0"/>
          </a:p>
        </p:txBody>
      </p:sp>
      <p:sp>
        <p:nvSpPr>
          <p:cNvPr id="16" name="dato proveedores"/>
          <p:cNvSpPr/>
          <p:nvPr/>
        </p:nvSpPr>
        <p:spPr>
          <a:xfrm>
            <a:off x="6217920" y="2377440"/>
            <a:ext cx="2606040" cy="3291840"/>
          </a:xfrm>
          <a:prstGeom prst="roundRect">
            <a:avLst>
              <a:gd name="adj" fmla="val 6316"/>
            </a:avLst>
          </a:prstGeom>
          <a:solidFill>
            <a:schemeClr val="bg2"/>
          </a:solidFill>
          <a:ln/>
          <a:effectLst>
            <a:outerShdw sx="100000" sy="100000" kx="0" ky="0" algn="bl" rotWithShape="0" blurRad="127000" dist="38100" dir="5400000">
              <a:srgbClr val="0B1B33">
                <a:alpha val="16000"/>
              </a:srgbClr>
            </a:outerShdw>
          </a:effectLst>
        </p:spPr>
      </p:sp>
      <p:sp>
        <p:nvSpPr>
          <p:cNvPr id="17" name="icono FiCpu"/>
          <p:cNvSpPr/>
          <p:nvPr/>
        </p:nvSpPr>
        <p:spPr>
          <a:xfrm>
            <a:off x="6492240" y="2651760"/>
            <a:ext cx="658368" cy="658368"/>
          </a:xfrm>
          <a:prstGeom prst="ellipse">
            <a:avLst/>
          </a:prstGeom>
          <a:solidFill>
            <a:srgbClr val="00A3C4"/>
          </a:solidFill>
          <a:ln/>
        </p:spPr>
      </p:sp>
      <p:pic>
        <p:nvPicPr>
          <p:cNvPr id="18" name="Image 2" descr="FiCpu">    </p:cNvPr>
          <p:cNvPicPr>
            <a:picLocks noChangeAspect="1"/>
          </p:cNvPicPr>
          <p:nvPr/>
        </p:nvPicPr>
        <p:blipFill>
          <a:blip r:embed="rId3"/>
          <a:stretch>
            <a:fillRect/>
          </a:stretch>
        </p:blipFill>
        <p:spPr>
          <a:xfrm>
            <a:off x="6650248" y="2809768"/>
            <a:ext cx="342351" cy="342351"/>
          </a:xfrm>
          <a:prstGeom prst="rect">
            <a:avLst/>
          </a:prstGeom>
        </p:spPr>
      </p:pic>
      <p:sp>
        <p:nvSpPr>
          <p:cNvPr id="19" name="Text 14"/>
          <p:cNvSpPr txBox="1"/>
          <p:nvPr/>
        </p:nvSpPr>
        <p:spPr>
          <a:xfrm>
            <a:off x="6492240" y="3429000"/>
            <a:ext cx="2103120" cy="914400"/>
          </a:xfrm>
          <a:prstGeom prst="rect">
            <a:avLst/>
          </a:prstGeom>
          <a:noFill/>
          <a:ln/>
        </p:spPr>
        <p:txBody>
          <a:bodyPr wrap="square" lIns="0" tIns="0" rIns="0" bIns="0" rtlCol="0" anchor="t"/>
          <a:lstStyle/>
          <a:p>
            <a:pPr indent="0" marL="0">
              <a:buNone/>
            </a:pPr>
            <a:r>
              <a:rPr lang="en-US" sz="6000" b="1" dirty="0">
                <a:solidFill>
                  <a:srgbClr val="00A3C4"/>
                </a:solidFill>
                <a:latin typeface="Arial" pitchFamily="34" charset="0"/>
                <a:ea typeface="Arial" pitchFamily="34" charset="-122"/>
                <a:cs typeface="Arial" pitchFamily="34" charset="-120"/>
              </a:rPr>
              <a:t>8+</a:t>
            </a:r>
            <a:endParaRPr lang="en-US" sz="6000" dirty="0"/>
          </a:p>
        </p:txBody>
      </p:sp>
      <p:sp>
        <p:nvSpPr>
          <p:cNvPr id="20" name="Text 15"/>
          <p:cNvSpPr txBox="1"/>
          <p:nvPr/>
        </p:nvSpPr>
        <p:spPr>
          <a:xfrm>
            <a:off x="6492240" y="4297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proveedores</a:t>
            </a:r>
            <a:endParaRPr lang="en-US" sz="1800" dirty="0"/>
          </a:p>
        </p:txBody>
      </p:sp>
      <p:sp>
        <p:nvSpPr>
          <p:cNvPr id="21" name="Text 16"/>
          <p:cNvSpPr txBox="1"/>
          <p:nvPr/>
        </p:nvSpPr>
        <p:spPr>
          <a:xfrm>
            <a:off x="6492240" y="4754880"/>
            <a:ext cx="2103120" cy="822960"/>
          </a:xfrm>
          <a:prstGeom prst="rect">
            <a:avLst/>
          </a:prstGeom>
          <a:noFill/>
          <a:ln/>
        </p:spPr>
        <p:txBody>
          <a:bodyPr wrap="square" lIns="0" tIns="0" rIns="0" bIns="0" rtlCol="0" anchor="t"/>
          <a:lstStyle/>
          <a:p>
            <a:pPr indent="0" marL="0">
              <a:buNone/>
            </a:pPr>
            <a:r>
              <a:rPr lang="en-US" sz="1300" dirty="0">
                <a:solidFill>
                  <a:srgbClr val="475A75"/>
                </a:solidFill>
              </a:rPr>
              <a:t>Anthropic, Gemini, OpenAI, OpenRouter, Ollama, LM Studio, vLLM, LiteLLM</a:t>
            </a:r>
            <a:endParaRPr lang="en-US" sz="1300" dirty="0"/>
          </a:p>
        </p:txBody>
      </p:sp>
      <p:sp>
        <p:nvSpPr>
          <p:cNvPr id="22" name="dato telemetría"/>
          <p:cNvSpPr/>
          <p:nvPr/>
        </p:nvSpPr>
        <p:spPr>
          <a:xfrm>
            <a:off x="9052560" y="2377440"/>
            <a:ext cx="2606040" cy="3291840"/>
          </a:xfrm>
          <a:prstGeom prst="roundRect">
            <a:avLst>
              <a:gd name="adj" fmla="val 6316"/>
            </a:avLst>
          </a:prstGeom>
          <a:solidFill>
            <a:schemeClr val="bg2"/>
          </a:solidFill>
          <a:ln/>
          <a:effectLst>
            <a:outerShdw sx="100000" sy="100000" kx="0" ky="0" algn="bl" rotWithShape="0" blurRad="127000" dist="38100" dir="5400000">
              <a:srgbClr val="0B1B33">
                <a:alpha val="16000"/>
              </a:srgbClr>
            </a:outerShdw>
          </a:effectLst>
        </p:spPr>
      </p:sp>
      <p:sp>
        <p:nvSpPr>
          <p:cNvPr id="23" name="icono FiLock"/>
          <p:cNvSpPr/>
          <p:nvPr/>
        </p:nvSpPr>
        <p:spPr>
          <a:xfrm>
            <a:off x="9326880" y="2651760"/>
            <a:ext cx="658368" cy="658368"/>
          </a:xfrm>
          <a:prstGeom prst="ellipse">
            <a:avLst/>
          </a:prstGeom>
          <a:solidFill>
            <a:srgbClr val="146C2E"/>
          </a:solidFill>
          <a:ln/>
        </p:spPr>
      </p:sp>
      <p:pic>
        <p:nvPicPr>
          <p:cNvPr id="24" name="Image 3" descr="FiLock">    </p:cNvPr>
          <p:cNvPicPr>
            <a:picLocks noChangeAspect="1"/>
          </p:cNvPicPr>
          <p:nvPr/>
        </p:nvPicPr>
        <p:blipFill>
          <a:blip r:embed="rId4"/>
          <a:stretch>
            <a:fillRect/>
          </a:stretch>
        </p:blipFill>
        <p:spPr>
          <a:xfrm>
            <a:off x="9484888" y="2809768"/>
            <a:ext cx="342351" cy="342351"/>
          </a:xfrm>
          <a:prstGeom prst="rect">
            <a:avLst/>
          </a:prstGeom>
        </p:spPr>
      </p:pic>
      <p:sp>
        <p:nvSpPr>
          <p:cNvPr id="25" name="Text 19"/>
          <p:cNvSpPr txBox="1"/>
          <p:nvPr/>
        </p:nvSpPr>
        <p:spPr>
          <a:xfrm>
            <a:off x="9326880" y="3429000"/>
            <a:ext cx="2103120" cy="914400"/>
          </a:xfrm>
          <a:prstGeom prst="rect">
            <a:avLst/>
          </a:prstGeom>
          <a:noFill/>
          <a:ln/>
        </p:spPr>
        <p:txBody>
          <a:bodyPr wrap="square" lIns="0" tIns="0" rIns="0" bIns="0" rtlCol="0" anchor="t"/>
          <a:lstStyle/>
          <a:p>
            <a:pPr indent="0" marL="0">
              <a:buNone/>
            </a:pPr>
            <a:r>
              <a:rPr lang="en-US" sz="6000" b="1" dirty="0">
                <a:solidFill>
                  <a:srgbClr val="146C2E"/>
                </a:solidFill>
                <a:latin typeface="Arial" pitchFamily="34" charset="0"/>
                <a:ea typeface="Arial" pitchFamily="34" charset="-122"/>
                <a:cs typeface="Arial" pitchFamily="34" charset="-120"/>
              </a:rPr>
              <a:t>0</a:t>
            </a:r>
            <a:endParaRPr lang="en-US" sz="6000" dirty="0"/>
          </a:p>
        </p:txBody>
      </p:sp>
      <p:sp>
        <p:nvSpPr>
          <p:cNvPr id="26" name="Text 20"/>
          <p:cNvSpPr txBox="1"/>
          <p:nvPr/>
        </p:nvSpPr>
        <p:spPr>
          <a:xfrm>
            <a:off x="9326880" y="4297680"/>
            <a:ext cx="2103120" cy="411480"/>
          </a:xfrm>
          <a:prstGeom prst="rect">
            <a:avLst/>
          </a:prstGeom>
          <a:noFill/>
          <a:ln/>
        </p:spPr>
        <p:txBody>
          <a:bodyPr wrap="square" lIns="0" tIns="0" rIns="0" bIns="0" rtlCol="0" anchor="t"/>
          <a:lstStyle/>
          <a:p>
            <a:pPr indent="0" marL="0">
              <a:buNone/>
            </a:pPr>
            <a:r>
              <a:rPr lang="en-US" sz="1800" b="1" dirty="0">
                <a:solidFill>
                  <a:schemeClr val="tx1"/>
                </a:solidFill>
              </a:rPr>
              <a:t>telemetría</a:t>
            </a:r>
            <a:endParaRPr lang="en-US" sz="1800" dirty="0"/>
          </a:p>
        </p:txBody>
      </p:sp>
      <p:sp>
        <p:nvSpPr>
          <p:cNvPr id="27" name="Text 21"/>
          <p:cNvSpPr txBox="1"/>
          <p:nvPr/>
        </p:nvSpPr>
        <p:spPr>
          <a:xfrm>
            <a:off x="9326880" y="4754880"/>
            <a:ext cx="2103120" cy="822960"/>
          </a:xfrm>
          <a:prstGeom prst="rect">
            <a:avLst/>
          </a:prstGeom>
          <a:noFill/>
          <a:ln/>
        </p:spPr>
        <p:txBody>
          <a:bodyPr wrap="square" lIns="0" tIns="0" rIns="0" bIns="0" rtlCol="0" anchor="t"/>
          <a:lstStyle/>
          <a:p>
            <a:pPr indent="0" marL="0">
              <a:buNone/>
            </a:pPr>
            <a:r>
              <a:rPr lang="en-US" sz="1300" dirty="0">
                <a:solidFill>
                  <a:srgbClr val="475A75"/>
                </a:solidFill>
              </a:rPr>
              <a:t>solo habla con el modelo que elijas y, al actualizar, con GitHub</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Cómo funciona: los clientes muestran, el núcleo decide</a:t>
            </a:r>
            <a:endParaRPr lang="en-US" sz="3200" dirty="0"/>
          </a:p>
        </p:txBody>
      </p:sp>
      <p:sp>
        <p:nvSpPr>
          <p:cNvPr id="3" name="Text 1"/>
          <p:cNvSpPr txBox="1"/>
          <p:nvPr/>
        </p:nvSpPr>
        <p:spPr>
          <a:xfrm>
            <a:off x="548640" y="1280160"/>
            <a:ext cx="2743200" cy="365760"/>
          </a:xfrm>
          <a:prstGeom prst="rect">
            <a:avLst/>
          </a:prstGeom>
          <a:noFill/>
          <a:ln/>
        </p:spPr>
        <p:txBody>
          <a:bodyPr wrap="square" lIns="0" tIns="0" rIns="0" bIns="0" rtlCol="0" anchor="t"/>
          <a:lstStyle/>
          <a:p>
            <a:pPr indent="0" marL="0">
              <a:buNone/>
            </a:pPr>
            <a:r>
              <a:rPr lang="en-US" sz="1500" b="1" dirty="0">
                <a:solidFill>
                  <a:srgbClr val="475A75"/>
                </a:solidFill>
              </a:rPr>
              <a:t>Clientes</a:t>
            </a:r>
            <a:endParaRPr lang="en-US" sz="1500" dirty="0"/>
          </a:p>
        </p:txBody>
      </p:sp>
      <p:sp>
        <p:nvSpPr>
          <p:cNvPr id="4" name="cliente TUI"/>
          <p:cNvSpPr/>
          <p:nvPr/>
        </p:nvSpPr>
        <p:spPr>
          <a:xfrm>
            <a:off x="548640" y="1737360"/>
            <a:ext cx="2926080" cy="896112"/>
          </a:xfrm>
          <a:prstGeom prst="roundRect">
            <a:avLst>
              <a:gd name="adj" fmla="val 18367"/>
            </a:avLst>
          </a:prstGeom>
          <a:solidFill>
            <a:schemeClr val="bg2"/>
          </a:solidFill>
          <a:ln/>
          <a:effectLst>
            <a:outerShdw sx="100000" sy="100000" kx="0" ky="0" algn="bl" rotWithShape="0" blurRad="127000" dist="38100" dir="5400000">
              <a:srgbClr val="0B1B33">
                <a:alpha val="16000"/>
              </a:srgbClr>
            </a:outerShdw>
          </a:effectLst>
        </p:spPr>
      </p:sp>
      <p:sp>
        <p:nvSpPr>
          <p:cNvPr id="5" name="icono FiTerminal"/>
          <p:cNvSpPr/>
          <p:nvPr/>
        </p:nvSpPr>
        <p:spPr>
          <a:xfrm>
            <a:off x="713232" y="1920240"/>
            <a:ext cx="530352" cy="530352"/>
          </a:xfrm>
          <a:prstGeom prst="ellipse">
            <a:avLst/>
          </a:prstGeom>
          <a:solidFill>
            <a:srgbClr val="0B57D0"/>
          </a:solidFill>
          <a:ln/>
        </p:spPr>
      </p:sp>
      <p:pic>
        <p:nvPicPr>
          <p:cNvPr id="6" name="Image 0" descr="FiTerminal">    </p:cNvPr>
          <p:cNvPicPr>
            <a:picLocks noChangeAspect="1"/>
          </p:cNvPicPr>
          <p:nvPr/>
        </p:nvPicPr>
        <p:blipFill>
          <a:blip r:embed="rId1"/>
          <a:stretch>
            <a:fillRect/>
          </a:stretch>
        </p:blipFill>
        <p:spPr>
          <a:xfrm>
            <a:off x="840516" y="2047524"/>
            <a:ext cx="275783" cy="275783"/>
          </a:xfrm>
          <a:prstGeom prst="rect">
            <a:avLst/>
          </a:prstGeom>
        </p:spPr>
      </p:pic>
      <p:sp>
        <p:nvSpPr>
          <p:cNvPr id="7" name="Text 4"/>
          <p:cNvSpPr txBox="1"/>
          <p:nvPr/>
        </p:nvSpPr>
        <p:spPr>
          <a:xfrm>
            <a:off x="1371600" y="1865376"/>
            <a:ext cx="2011680" cy="329184"/>
          </a:xfrm>
          <a:prstGeom prst="rect">
            <a:avLst/>
          </a:prstGeom>
          <a:noFill/>
          <a:ln/>
        </p:spPr>
        <p:txBody>
          <a:bodyPr wrap="square" lIns="0" tIns="0" rIns="0" bIns="0" rtlCol="0" anchor="t"/>
          <a:lstStyle/>
          <a:p>
            <a:pPr indent="0" marL="0">
              <a:buNone/>
            </a:pPr>
            <a:r>
              <a:rPr lang="en-US" sz="1500" b="1" dirty="0">
                <a:solidFill>
                  <a:schemeClr val="tx1"/>
                </a:solidFill>
              </a:rPr>
              <a:t>TUI</a:t>
            </a:r>
            <a:endParaRPr lang="en-US" sz="1500" dirty="0"/>
          </a:p>
        </p:txBody>
      </p:sp>
      <p:sp>
        <p:nvSpPr>
          <p:cNvPr id="8" name="Text 5"/>
          <p:cNvSpPr txBox="1"/>
          <p:nvPr/>
        </p:nvSpPr>
        <p:spPr>
          <a:xfrm>
            <a:off x="1371600" y="2194560"/>
            <a:ext cx="2057400" cy="329184"/>
          </a:xfrm>
          <a:prstGeom prst="rect">
            <a:avLst/>
          </a:prstGeom>
          <a:noFill/>
          <a:ln/>
        </p:spPr>
        <p:txBody>
          <a:bodyPr wrap="square" lIns="0" tIns="0" rIns="0" bIns="0" rtlCol="0" anchor="t"/>
          <a:lstStyle/>
          <a:p>
            <a:pPr indent="0" marL="0">
              <a:buNone/>
            </a:pPr>
            <a:r>
              <a:rPr lang="en-US" sz="1150" dirty="0">
                <a:solidFill>
                  <a:srgbClr val="475A75"/>
                </a:solidFill>
                <a:latin typeface="Courier New" pitchFamily="34" charset="0"/>
                <a:ea typeface="Courier New" pitchFamily="34" charset="-122"/>
                <a:cs typeface="Courier New" pitchFamily="34" charset="-120"/>
              </a:rPr>
              <a:t>pcode</a:t>
            </a:r>
            <a:endParaRPr lang="en-US" sz="1150" dirty="0"/>
          </a:p>
        </p:txBody>
      </p:sp>
      <p:sp>
        <p:nvSpPr>
          <p:cNvPr id="9" name="cliente Studio"/>
          <p:cNvSpPr/>
          <p:nvPr/>
        </p:nvSpPr>
        <p:spPr>
          <a:xfrm>
            <a:off x="548640" y="2816352"/>
            <a:ext cx="2926080" cy="896112"/>
          </a:xfrm>
          <a:prstGeom prst="roundRect">
            <a:avLst>
              <a:gd name="adj" fmla="val 18367"/>
            </a:avLst>
          </a:prstGeom>
          <a:solidFill>
            <a:schemeClr val="bg2"/>
          </a:solidFill>
          <a:ln/>
          <a:effectLst>
            <a:outerShdw sx="100000" sy="100000" kx="0" ky="0" algn="bl" rotWithShape="0" blurRad="127000" dist="38100" dir="5400000">
              <a:srgbClr val="0B1B33">
                <a:alpha val="16000"/>
              </a:srgbClr>
            </a:outerShdw>
          </a:effectLst>
        </p:spPr>
      </p:sp>
      <p:sp>
        <p:nvSpPr>
          <p:cNvPr id="10" name="icono FiMonitor"/>
          <p:cNvSpPr/>
          <p:nvPr/>
        </p:nvSpPr>
        <p:spPr>
          <a:xfrm>
            <a:off x="713232" y="2999232"/>
            <a:ext cx="530352" cy="530352"/>
          </a:xfrm>
          <a:prstGeom prst="ellipse">
            <a:avLst/>
          </a:prstGeom>
          <a:solidFill>
            <a:srgbClr val="0B57D0"/>
          </a:solidFill>
          <a:ln/>
        </p:spPr>
      </p:sp>
      <p:pic>
        <p:nvPicPr>
          <p:cNvPr id="11" name="Image 1" descr="FiMonitor">    </p:cNvPr>
          <p:cNvPicPr>
            <a:picLocks noChangeAspect="1"/>
          </p:cNvPicPr>
          <p:nvPr/>
        </p:nvPicPr>
        <p:blipFill>
          <a:blip r:embed="rId2"/>
          <a:stretch>
            <a:fillRect/>
          </a:stretch>
        </p:blipFill>
        <p:spPr>
          <a:xfrm>
            <a:off x="840516" y="3126516"/>
            <a:ext cx="275783" cy="275783"/>
          </a:xfrm>
          <a:prstGeom prst="rect">
            <a:avLst/>
          </a:prstGeom>
        </p:spPr>
      </p:pic>
      <p:sp>
        <p:nvSpPr>
          <p:cNvPr id="12" name="Text 8"/>
          <p:cNvSpPr txBox="1"/>
          <p:nvPr/>
        </p:nvSpPr>
        <p:spPr>
          <a:xfrm>
            <a:off x="1371600" y="2944368"/>
            <a:ext cx="2011680" cy="329184"/>
          </a:xfrm>
          <a:prstGeom prst="rect">
            <a:avLst/>
          </a:prstGeom>
          <a:noFill/>
          <a:ln/>
        </p:spPr>
        <p:txBody>
          <a:bodyPr wrap="square" lIns="0" tIns="0" rIns="0" bIns="0" rtlCol="0" anchor="t"/>
          <a:lstStyle/>
          <a:p>
            <a:pPr indent="0" marL="0">
              <a:buNone/>
            </a:pPr>
            <a:r>
              <a:rPr lang="en-US" sz="1500" b="1" dirty="0">
                <a:solidFill>
                  <a:schemeClr val="tx1"/>
                </a:solidFill>
              </a:rPr>
              <a:t>Studio</a:t>
            </a:r>
            <a:endParaRPr lang="en-US" sz="1500" dirty="0"/>
          </a:p>
        </p:txBody>
      </p:sp>
      <p:sp>
        <p:nvSpPr>
          <p:cNvPr id="13" name="Text 9"/>
          <p:cNvSpPr txBox="1"/>
          <p:nvPr/>
        </p:nvSpPr>
        <p:spPr>
          <a:xfrm>
            <a:off x="1371600" y="3273552"/>
            <a:ext cx="2057400" cy="329184"/>
          </a:xfrm>
          <a:prstGeom prst="rect">
            <a:avLst/>
          </a:prstGeom>
          <a:noFill/>
          <a:ln/>
        </p:spPr>
        <p:txBody>
          <a:bodyPr wrap="square" lIns="0" tIns="0" rIns="0" bIns="0" rtlCol="0" anchor="t"/>
          <a:lstStyle/>
          <a:p>
            <a:pPr indent="0" marL="0">
              <a:buNone/>
            </a:pPr>
            <a:r>
              <a:rPr lang="en-US" sz="1150" dirty="0">
                <a:solidFill>
                  <a:srgbClr val="475A75"/>
                </a:solidFill>
                <a:latin typeface="Courier New" pitchFamily="34" charset="0"/>
                <a:ea typeface="Courier New" pitchFamily="34" charset="-122"/>
                <a:cs typeface="Courier New" pitchFamily="34" charset="-120"/>
              </a:rPr>
              <a:t>pcode studio</a:t>
            </a:r>
            <a:endParaRPr lang="en-US" sz="1150" dirty="0"/>
          </a:p>
        </p:txBody>
      </p:sp>
      <p:sp>
        <p:nvSpPr>
          <p:cNvPr id="14" name="cliente Chat y scripts"/>
          <p:cNvSpPr/>
          <p:nvPr/>
        </p:nvSpPr>
        <p:spPr>
          <a:xfrm>
            <a:off x="548640" y="3895344"/>
            <a:ext cx="2926080" cy="896112"/>
          </a:xfrm>
          <a:prstGeom prst="roundRect">
            <a:avLst>
              <a:gd name="adj" fmla="val 18367"/>
            </a:avLst>
          </a:prstGeom>
          <a:solidFill>
            <a:schemeClr val="bg2"/>
          </a:solidFill>
          <a:ln/>
          <a:effectLst>
            <a:outerShdw sx="100000" sy="100000" kx="0" ky="0" algn="bl" rotWithShape="0" blurRad="127000" dist="38100" dir="5400000">
              <a:srgbClr val="0B1B33">
                <a:alpha val="16000"/>
              </a:srgbClr>
            </a:outerShdw>
          </a:effectLst>
        </p:spPr>
      </p:sp>
      <p:sp>
        <p:nvSpPr>
          <p:cNvPr id="15" name="icono FiCode"/>
          <p:cNvSpPr/>
          <p:nvPr/>
        </p:nvSpPr>
        <p:spPr>
          <a:xfrm>
            <a:off x="713232" y="4078224"/>
            <a:ext cx="530352" cy="530352"/>
          </a:xfrm>
          <a:prstGeom prst="ellipse">
            <a:avLst/>
          </a:prstGeom>
          <a:solidFill>
            <a:srgbClr val="0B57D0"/>
          </a:solidFill>
          <a:ln/>
        </p:spPr>
      </p:sp>
      <p:pic>
        <p:nvPicPr>
          <p:cNvPr id="16" name="Image 2" descr="FiCode">    </p:cNvPr>
          <p:cNvPicPr>
            <a:picLocks noChangeAspect="1"/>
          </p:cNvPicPr>
          <p:nvPr/>
        </p:nvPicPr>
        <p:blipFill>
          <a:blip r:embed="rId3"/>
          <a:stretch>
            <a:fillRect/>
          </a:stretch>
        </p:blipFill>
        <p:spPr>
          <a:xfrm>
            <a:off x="840516" y="4205508"/>
            <a:ext cx="275783" cy="275783"/>
          </a:xfrm>
          <a:prstGeom prst="rect">
            <a:avLst/>
          </a:prstGeom>
        </p:spPr>
      </p:pic>
      <p:sp>
        <p:nvSpPr>
          <p:cNvPr id="17" name="Text 12"/>
          <p:cNvSpPr txBox="1"/>
          <p:nvPr/>
        </p:nvSpPr>
        <p:spPr>
          <a:xfrm>
            <a:off x="1371600" y="4023360"/>
            <a:ext cx="2011680" cy="329184"/>
          </a:xfrm>
          <a:prstGeom prst="rect">
            <a:avLst/>
          </a:prstGeom>
          <a:noFill/>
          <a:ln/>
        </p:spPr>
        <p:txBody>
          <a:bodyPr wrap="square" lIns="0" tIns="0" rIns="0" bIns="0" rtlCol="0" anchor="t"/>
          <a:lstStyle/>
          <a:p>
            <a:pPr indent="0" marL="0">
              <a:buNone/>
            </a:pPr>
            <a:r>
              <a:rPr lang="en-US" sz="1500" b="1" dirty="0">
                <a:solidFill>
                  <a:schemeClr val="tx1"/>
                </a:solidFill>
              </a:rPr>
              <a:t>Chat y scripts</a:t>
            </a:r>
            <a:endParaRPr lang="en-US" sz="1500" dirty="0"/>
          </a:p>
        </p:txBody>
      </p:sp>
      <p:sp>
        <p:nvSpPr>
          <p:cNvPr id="18" name="Text 13"/>
          <p:cNvSpPr txBox="1"/>
          <p:nvPr/>
        </p:nvSpPr>
        <p:spPr>
          <a:xfrm>
            <a:off x="1371600" y="4352544"/>
            <a:ext cx="2057400" cy="329184"/>
          </a:xfrm>
          <a:prstGeom prst="rect">
            <a:avLst/>
          </a:prstGeom>
          <a:noFill/>
          <a:ln/>
        </p:spPr>
        <p:txBody>
          <a:bodyPr wrap="square" lIns="0" tIns="0" rIns="0" bIns="0" rtlCol="0" anchor="t"/>
          <a:lstStyle/>
          <a:p>
            <a:pPr indent="0" marL="0">
              <a:buNone/>
            </a:pPr>
            <a:r>
              <a:rPr lang="en-US" sz="1150" dirty="0">
                <a:solidFill>
                  <a:srgbClr val="475A75"/>
                </a:solidFill>
                <a:latin typeface="Courier New" pitchFamily="34" charset="0"/>
                <a:ea typeface="Courier New" pitchFamily="34" charset="-122"/>
                <a:cs typeface="Courier New" pitchFamily="34" charset="-120"/>
              </a:rPr>
              <a:t>pcode chat · run · preguntar</a:t>
            </a:r>
            <a:endParaRPr lang="en-US" sz="1150" dirty="0"/>
          </a:p>
        </p:txBody>
      </p:sp>
      <p:sp>
        <p:nvSpPr>
          <p:cNvPr id="19" name="cliente Móvil"/>
          <p:cNvSpPr/>
          <p:nvPr/>
        </p:nvSpPr>
        <p:spPr>
          <a:xfrm>
            <a:off x="548640" y="4974336"/>
            <a:ext cx="2926080" cy="896112"/>
          </a:xfrm>
          <a:prstGeom prst="roundRect">
            <a:avLst>
              <a:gd name="adj" fmla="val 18367"/>
            </a:avLst>
          </a:prstGeom>
          <a:solidFill>
            <a:schemeClr val="bg2"/>
          </a:solidFill>
          <a:ln/>
          <a:effectLst>
            <a:outerShdw sx="100000" sy="100000" kx="0" ky="0" algn="bl" rotWithShape="0" blurRad="127000" dist="38100" dir="5400000">
              <a:srgbClr val="0B1B33">
                <a:alpha val="16000"/>
              </a:srgbClr>
            </a:outerShdw>
          </a:effectLst>
        </p:spPr>
      </p:sp>
      <p:sp>
        <p:nvSpPr>
          <p:cNvPr id="20" name="icono FiSmartphone"/>
          <p:cNvSpPr/>
          <p:nvPr/>
        </p:nvSpPr>
        <p:spPr>
          <a:xfrm>
            <a:off x="713232" y="5157216"/>
            <a:ext cx="530352" cy="530352"/>
          </a:xfrm>
          <a:prstGeom prst="ellipse">
            <a:avLst/>
          </a:prstGeom>
          <a:solidFill>
            <a:srgbClr val="0B57D0"/>
          </a:solidFill>
          <a:ln/>
        </p:spPr>
      </p:sp>
      <p:pic>
        <p:nvPicPr>
          <p:cNvPr id="21" name="Image 3" descr="FiSmartphone">    </p:cNvPr>
          <p:cNvPicPr>
            <a:picLocks noChangeAspect="1"/>
          </p:cNvPicPr>
          <p:nvPr/>
        </p:nvPicPr>
        <p:blipFill>
          <a:blip r:embed="rId4"/>
          <a:stretch>
            <a:fillRect/>
          </a:stretch>
        </p:blipFill>
        <p:spPr>
          <a:xfrm>
            <a:off x="840516" y="5284500"/>
            <a:ext cx="275783" cy="275783"/>
          </a:xfrm>
          <a:prstGeom prst="rect">
            <a:avLst/>
          </a:prstGeom>
        </p:spPr>
      </p:pic>
      <p:sp>
        <p:nvSpPr>
          <p:cNvPr id="22" name="Text 16"/>
          <p:cNvSpPr txBox="1"/>
          <p:nvPr/>
        </p:nvSpPr>
        <p:spPr>
          <a:xfrm>
            <a:off x="1371600" y="5102352"/>
            <a:ext cx="2011680" cy="329184"/>
          </a:xfrm>
          <a:prstGeom prst="rect">
            <a:avLst/>
          </a:prstGeom>
          <a:noFill/>
          <a:ln/>
        </p:spPr>
        <p:txBody>
          <a:bodyPr wrap="square" lIns="0" tIns="0" rIns="0" bIns="0" rtlCol="0" anchor="t"/>
          <a:lstStyle/>
          <a:p>
            <a:pPr indent="0" marL="0">
              <a:buNone/>
            </a:pPr>
            <a:r>
              <a:rPr lang="en-US" sz="1500" b="1" dirty="0">
                <a:solidFill>
                  <a:schemeClr val="tx1"/>
                </a:solidFill>
              </a:rPr>
              <a:t>Móvil</a:t>
            </a:r>
            <a:endParaRPr lang="en-US" sz="1500" dirty="0"/>
          </a:p>
        </p:txBody>
      </p:sp>
      <p:sp>
        <p:nvSpPr>
          <p:cNvPr id="23" name="Text 17"/>
          <p:cNvSpPr txBox="1"/>
          <p:nvPr/>
        </p:nvSpPr>
        <p:spPr>
          <a:xfrm>
            <a:off x="1371600" y="5431536"/>
            <a:ext cx="2057400" cy="329184"/>
          </a:xfrm>
          <a:prstGeom prst="rect">
            <a:avLst/>
          </a:prstGeom>
          <a:noFill/>
          <a:ln/>
        </p:spPr>
        <p:txBody>
          <a:bodyPr wrap="square" lIns="0" tIns="0" rIns="0" bIns="0" rtlCol="0" anchor="t"/>
          <a:lstStyle/>
          <a:p>
            <a:pPr indent="0" marL="0">
              <a:buNone/>
            </a:pPr>
            <a:r>
              <a:rPr lang="en-US" sz="1150" dirty="0">
                <a:solidFill>
                  <a:srgbClr val="475A75"/>
                </a:solidFill>
                <a:latin typeface="Courier New" pitchFamily="34" charset="0"/>
                <a:ea typeface="Courier New" pitchFamily="34" charset="-122"/>
                <a:cs typeface="Courier New" pitchFamily="34" charset="-120"/>
              </a:rPr>
              <a:t>APK: sesiones y aprobaciones</a:t>
            </a:r>
            <a:endParaRPr lang="en-US" sz="1150" dirty="0"/>
          </a:p>
        </p:txBody>
      </p:sp>
      <p:sp>
        <p:nvSpPr>
          <p:cNvPr id="24" name="núcleo"/>
          <p:cNvSpPr/>
          <p:nvPr/>
        </p:nvSpPr>
        <p:spPr>
          <a:xfrm>
            <a:off x="4160520" y="1691640"/>
            <a:ext cx="3886200" cy="4206240"/>
          </a:xfrm>
          <a:prstGeom prst="roundRect">
            <a:avLst>
              <a:gd name="adj" fmla="val 5882"/>
            </a:avLst>
          </a:prstGeom>
          <a:solidFill>
            <a:srgbClr val="0F1D33"/>
          </a:solidFill>
          <a:ln/>
          <a:effectLst>
            <a:outerShdw sx="100000" sy="100000" kx="0" ky="0" algn="bl" rotWithShape="0" blurRad="127000" dist="38100" dir="5400000">
              <a:srgbClr val="0B1B33">
                <a:alpha val="16000"/>
              </a:srgbClr>
            </a:outerShdw>
          </a:effectLst>
        </p:spPr>
      </p:sp>
      <p:sp>
        <p:nvSpPr>
          <p:cNvPr id="25" name="Text 19"/>
          <p:cNvSpPr txBox="1"/>
          <p:nvPr/>
        </p:nvSpPr>
        <p:spPr>
          <a:xfrm>
            <a:off x="4434840" y="1874520"/>
            <a:ext cx="3474720" cy="411480"/>
          </a:xfrm>
          <a:prstGeom prst="rect">
            <a:avLst/>
          </a:prstGeom>
          <a:noFill/>
          <a:ln/>
        </p:spPr>
        <p:txBody>
          <a:bodyPr wrap="square" lIns="0" tIns="0" rIns="0" bIns="0" rtlCol="0" anchor="t"/>
          <a:lstStyle/>
          <a:p>
            <a:pPr indent="0" marL="0">
              <a:buNone/>
            </a:pPr>
            <a:r>
              <a:rPr lang="en-US" sz="1800" b="1" dirty="0">
                <a:solidFill>
                  <a:srgbClr val="FFFFFF"/>
                </a:solidFill>
              </a:rPr>
              <a:t>pcoded · el núcleo</a:t>
            </a:r>
            <a:endParaRPr lang="en-US" sz="1800" dirty="0"/>
          </a:p>
        </p:txBody>
      </p:sp>
      <p:sp>
        <p:nvSpPr>
          <p:cNvPr id="26" name="Text 20"/>
          <p:cNvSpPr txBox="1"/>
          <p:nvPr/>
        </p:nvSpPr>
        <p:spPr>
          <a:xfrm>
            <a:off x="4434840" y="2286000"/>
            <a:ext cx="3474720" cy="274320"/>
          </a:xfrm>
          <a:prstGeom prst="rect">
            <a:avLst/>
          </a:prstGeom>
          <a:noFill/>
          <a:ln/>
        </p:spPr>
        <p:txBody>
          <a:bodyPr wrap="square" lIns="0" tIns="0" rIns="0" bIns="0" rtlCol="0" anchor="t"/>
          <a:lstStyle/>
          <a:p>
            <a:pPr indent="0" marL="0">
              <a:buNone/>
            </a:pPr>
            <a:r>
              <a:rPr lang="en-US" sz="1150" dirty="0">
                <a:solidFill>
                  <a:srgbClr val="9FB3D1"/>
                </a:solidFill>
                <a:latin typeface="Courier New" pitchFamily="34" charset="0"/>
                <a:ea typeface="Courier New" pitchFamily="34" charset="-122"/>
                <a:cs typeface="Courier New" pitchFamily="34" charset="-120"/>
              </a:rPr>
              <a:t>Rust · JSON-RPC + eventos</a:t>
            </a:r>
            <a:endParaRPr lang="en-US" sz="1150" dirty="0"/>
          </a:p>
        </p:txBody>
      </p:sp>
      <p:sp>
        <p:nvSpPr>
          <p:cNvPr id="27" name="núcleo Agente propio"/>
          <p:cNvSpPr/>
          <p:nvPr/>
        </p:nvSpPr>
        <p:spPr>
          <a:xfrm>
            <a:off x="4434840" y="2788920"/>
            <a:ext cx="1645920" cy="822960"/>
          </a:xfrm>
          <a:prstGeom prst="roundRect">
            <a:avLst>
              <a:gd name="adj" fmla="val 15556"/>
            </a:avLst>
          </a:prstGeom>
          <a:solidFill>
            <a:srgbClr val="1C3150"/>
          </a:solidFill>
          <a:ln/>
        </p:spPr>
      </p:sp>
      <p:pic>
        <p:nvPicPr>
          <p:cNvPr id="28" name="Image 4" descr="Agente propio">    </p:cNvPr>
          <p:cNvPicPr>
            <a:picLocks noChangeAspect="1"/>
          </p:cNvPicPr>
          <p:nvPr/>
        </p:nvPicPr>
        <p:blipFill>
          <a:blip r:embed="rId5"/>
          <a:stretch>
            <a:fillRect/>
          </a:stretch>
        </p:blipFill>
        <p:spPr>
          <a:xfrm>
            <a:off x="4562856" y="3035808"/>
            <a:ext cx="329184" cy="329184"/>
          </a:xfrm>
          <a:prstGeom prst="rect">
            <a:avLst/>
          </a:prstGeom>
        </p:spPr>
      </p:pic>
      <p:sp>
        <p:nvSpPr>
          <p:cNvPr id="29" name="Text 22"/>
          <p:cNvSpPr txBox="1"/>
          <p:nvPr/>
        </p:nvSpPr>
        <p:spPr>
          <a:xfrm>
            <a:off x="4965192" y="2862072"/>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Agente propio</a:t>
            </a:r>
            <a:endParaRPr lang="en-US" sz="1200" dirty="0"/>
          </a:p>
        </p:txBody>
      </p:sp>
      <p:sp>
        <p:nvSpPr>
          <p:cNvPr id="30" name="núcleo Política y aprobaciones"/>
          <p:cNvSpPr/>
          <p:nvPr/>
        </p:nvSpPr>
        <p:spPr>
          <a:xfrm>
            <a:off x="6190488" y="2788920"/>
            <a:ext cx="1645920" cy="822960"/>
          </a:xfrm>
          <a:prstGeom prst="roundRect">
            <a:avLst>
              <a:gd name="adj" fmla="val 15556"/>
            </a:avLst>
          </a:prstGeom>
          <a:solidFill>
            <a:srgbClr val="1C3150"/>
          </a:solidFill>
          <a:ln/>
        </p:spPr>
      </p:sp>
      <p:pic>
        <p:nvPicPr>
          <p:cNvPr id="31" name="Image 5" descr="Política y aprobaciones">    </p:cNvPr>
          <p:cNvPicPr>
            <a:picLocks noChangeAspect="1"/>
          </p:cNvPicPr>
          <p:nvPr/>
        </p:nvPicPr>
        <p:blipFill>
          <a:blip r:embed="rId6"/>
          <a:stretch>
            <a:fillRect/>
          </a:stretch>
        </p:blipFill>
        <p:spPr>
          <a:xfrm>
            <a:off x="6318504" y="3035808"/>
            <a:ext cx="329184" cy="329184"/>
          </a:xfrm>
          <a:prstGeom prst="rect">
            <a:avLst/>
          </a:prstGeom>
        </p:spPr>
      </p:pic>
      <p:sp>
        <p:nvSpPr>
          <p:cNvPr id="32" name="Text 24"/>
          <p:cNvSpPr txBox="1"/>
          <p:nvPr/>
        </p:nvSpPr>
        <p:spPr>
          <a:xfrm>
            <a:off x="6720840" y="2862072"/>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Política y aprobaciones</a:t>
            </a:r>
            <a:endParaRPr lang="en-US" sz="1200" dirty="0"/>
          </a:p>
        </p:txBody>
      </p:sp>
      <p:sp>
        <p:nvSpPr>
          <p:cNvPr id="33" name="núcleo Auditoría encadenada"/>
          <p:cNvSpPr/>
          <p:nvPr/>
        </p:nvSpPr>
        <p:spPr>
          <a:xfrm>
            <a:off x="4434840" y="3767328"/>
            <a:ext cx="1645920" cy="822960"/>
          </a:xfrm>
          <a:prstGeom prst="roundRect">
            <a:avLst>
              <a:gd name="adj" fmla="val 15556"/>
            </a:avLst>
          </a:prstGeom>
          <a:solidFill>
            <a:srgbClr val="1C3150"/>
          </a:solidFill>
          <a:ln/>
        </p:spPr>
      </p:sp>
      <p:pic>
        <p:nvPicPr>
          <p:cNvPr id="34" name="Image 6" descr="Auditoría encadenada">    </p:cNvPr>
          <p:cNvPicPr>
            <a:picLocks noChangeAspect="1"/>
          </p:cNvPicPr>
          <p:nvPr/>
        </p:nvPicPr>
        <p:blipFill>
          <a:blip r:embed="rId7"/>
          <a:stretch>
            <a:fillRect/>
          </a:stretch>
        </p:blipFill>
        <p:spPr>
          <a:xfrm>
            <a:off x="4562856" y="4014216"/>
            <a:ext cx="329184" cy="329184"/>
          </a:xfrm>
          <a:prstGeom prst="rect">
            <a:avLst/>
          </a:prstGeom>
        </p:spPr>
      </p:pic>
      <p:sp>
        <p:nvSpPr>
          <p:cNvPr id="35" name="Text 26"/>
          <p:cNvSpPr txBox="1"/>
          <p:nvPr/>
        </p:nvSpPr>
        <p:spPr>
          <a:xfrm>
            <a:off x="4965192" y="3840480"/>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Auditoría encadenada</a:t>
            </a:r>
            <a:endParaRPr lang="en-US" sz="1200" dirty="0"/>
          </a:p>
        </p:txBody>
      </p:sp>
      <p:sp>
        <p:nvSpPr>
          <p:cNvPr id="36" name="núcleo Puntos de control"/>
          <p:cNvSpPr/>
          <p:nvPr/>
        </p:nvSpPr>
        <p:spPr>
          <a:xfrm>
            <a:off x="6190488" y="3767328"/>
            <a:ext cx="1645920" cy="822960"/>
          </a:xfrm>
          <a:prstGeom prst="roundRect">
            <a:avLst>
              <a:gd name="adj" fmla="val 15556"/>
            </a:avLst>
          </a:prstGeom>
          <a:solidFill>
            <a:srgbClr val="1C3150"/>
          </a:solidFill>
          <a:ln/>
        </p:spPr>
      </p:sp>
      <p:pic>
        <p:nvPicPr>
          <p:cNvPr id="37" name="Image 7" descr="Puntos de control">    </p:cNvPr>
          <p:cNvPicPr>
            <a:picLocks noChangeAspect="1"/>
          </p:cNvPicPr>
          <p:nvPr/>
        </p:nvPicPr>
        <p:blipFill>
          <a:blip r:embed="rId8"/>
          <a:stretch>
            <a:fillRect/>
          </a:stretch>
        </p:blipFill>
        <p:spPr>
          <a:xfrm>
            <a:off x="6318504" y="4014216"/>
            <a:ext cx="329184" cy="329184"/>
          </a:xfrm>
          <a:prstGeom prst="rect">
            <a:avLst/>
          </a:prstGeom>
        </p:spPr>
      </p:pic>
      <p:sp>
        <p:nvSpPr>
          <p:cNvPr id="38" name="Text 28"/>
          <p:cNvSpPr txBox="1"/>
          <p:nvPr/>
        </p:nvSpPr>
        <p:spPr>
          <a:xfrm>
            <a:off x="6720840" y="3840480"/>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Puntos de control</a:t>
            </a:r>
            <a:endParaRPr lang="en-US" sz="1200" dirty="0"/>
          </a:p>
        </p:txBody>
      </p:sp>
      <p:sp>
        <p:nvSpPr>
          <p:cNvPr id="39" name="núcleo LSP y esquema"/>
          <p:cNvSpPr/>
          <p:nvPr/>
        </p:nvSpPr>
        <p:spPr>
          <a:xfrm>
            <a:off x="4434840" y="4745736"/>
            <a:ext cx="1645920" cy="822960"/>
          </a:xfrm>
          <a:prstGeom prst="roundRect">
            <a:avLst>
              <a:gd name="adj" fmla="val 15556"/>
            </a:avLst>
          </a:prstGeom>
          <a:solidFill>
            <a:srgbClr val="1C3150"/>
          </a:solidFill>
          <a:ln/>
        </p:spPr>
      </p:sp>
      <p:pic>
        <p:nvPicPr>
          <p:cNvPr id="40" name="Image 8" descr="LSP y esquema">    </p:cNvPr>
          <p:cNvPicPr>
            <a:picLocks noChangeAspect="1"/>
          </p:cNvPicPr>
          <p:nvPr/>
        </p:nvPicPr>
        <p:blipFill>
          <a:blip r:embed="rId9"/>
          <a:stretch>
            <a:fillRect/>
          </a:stretch>
        </p:blipFill>
        <p:spPr>
          <a:xfrm>
            <a:off x="4562856" y="4992624"/>
            <a:ext cx="329184" cy="329184"/>
          </a:xfrm>
          <a:prstGeom prst="rect">
            <a:avLst/>
          </a:prstGeom>
        </p:spPr>
      </p:pic>
      <p:sp>
        <p:nvSpPr>
          <p:cNvPr id="41" name="Text 30"/>
          <p:cNvSpPr txBox="1"/>
          <p:nvPr/>
        </p:nvSpPr>
        <p:spPr>
          <a:xfrm>
            <a:off x="4965192" y="4818888"/>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LSP y esquema</a:t>
            </a:r>
            <a:endParaRPr lang="en-US" sz="1200" dirty="0"/>
          </a:p>
        </p:txBody>
      </p:sp>
      <p:sp>
        <p:nvSpPr>
          <p:cNvPr id="42" name="núcleo Asistente ✦"/>
          <p:cNvSpPr/>
          <p:nvPr/>
        </p:nvSpPr>
        <p:spPr>
          <a:xfrm>
            <a:off x="6190488" y="4745736"/>
            <a:ext cx="1645920" cy="822960"/>
          </a:xfrm>
          <a:prstGeom prst="roundRect">
            <a:avLst>
              <a:gd name="adj" fmla="val 15556"/>
            </a:avLst>
          </a:prstGeom>
          <a:solidFill>
            <a:srgbClr val="1C3150"/>
          </a:solidFill>
          <a:ln/>
        </p:spPr>
      </p:sp>
      <p:pic>
        <p:nvPicPr>
          <p:cNvPr id="43" name="Image 9" descr="Asistente ✦">    </p:cNvPr>
          <p:cNvPicPr>
            <a:picLocks noChangeAspect="1"/>
          </p:cNvPicPr>
          <p:nvPr/>
        </p:nvPicPr>
        <p:blipFill>
          <a:blip r:embed="rId10"/>
          <a:stretch>
            <a:fillRect/>
          </a:stretch>
        </p:blipFill>
        <p:spPr>
          <a:xfrm>
            <a:off x="6318504" y="4992624"/>
            <a:ext cx="329184" cy="329184"/>
          </a:xfrm>
          <a:prstGeom prst="rect">
            <a:avLst/>
          </a:prstGeom>
        </p:spPr>
      </p:pic>
      <p:sp>
        <p:nvSpPr>
          <p:cNvPr id="44" name="Text 32"/>
          <p:cNvSpPr txBox="1"/>
          <p:nvPr/>
        </p:nvSpPr>
        <p:spPr>
          <a:xfrm>
            <a:off x="6720840" y="4818888"/>
            <a:ext cx="1051560" cy="676656"/>
          </a:xfrm>
          <a:prstGeom prst="rect">
            <a:avLst/>
          </a:prstGeom>
          <a:noFill/>
          <a:ln/>
        </p:spPr>
        <p:txBody>
          <a:bodyPr wrap="square" lIns="0" tIns="0" rIns="0" bIns="0" rtlCol="0" anchor="ctr"/>
          <a:lstStyle/>
          <a:p>
            <a:pPr indent="0" marL="0">
              <a:buNone/>
            </a:pPr>
            <a:r>
              <a:rPr lang="en-US" sz="1200" b="1" dirty="0">
                <a:solidFill>
                  <a:srgbClr val="FFFFFF"/>
                </a:solidFill>
              </a:rPr>
              <a:t>Asistente ✦</a:t>
            </a:r>
            <a:endParaRPr lang="en-US" sz="1200" dirty="0"/>
          </a:p>
        </p:txBody>
      </p:sp>
      <p:sp>
        <p:nvSpPr>
          <p:cNvPr id="45" name="Text 33"/>
          <p:cNvSpPr txBox="1"/>
          <p:nvPr/>
        </p:nvSpPr>
        <p:spPr>
          <a:xfrm>
            <a:off x="8732520" y="1280160"/>
            <a:ext cx="2926080" cy="365760"/>
          </a:xfrm>
          <a:prstGeom prst="rect">
            <a:avLst/>
          </a:prstGeom>
          <a:noFill/>
          <a:ln/>
        </p:spPr>
        <p:txBody>
          <a:bodyPr wrap="square" lIns="0" tIns="0" rIns="0" bIns="0" rtlCol="0" anchor="t"/>
          <a:lstStyle/>
          <a:p>
            <a:pPr indent="0" marL="0">
              <a:buNone/>
            </a:pPr>
            <a:r>
              <a:rPr lang="en-US" sz="1500" b="1" dirty="0">
                <a:solidFill>
                  <a:srgbClr val="475A75"/>
                </a:solidFill>
              </a:rPr>
              <a:t>Modelos y agentes</a:t>
            </a:r>
            <a:endParaRPr lang="en-US" sz="1500" dirty="0"/>
          </a:p>
        </p:txBody>
      </p:sp>
      <p:sp>
        <p:nvSpPr>
          <p:cNvPr id="46" name="modelo En la nube"/>
          <p:cNvSpPr/>
          <p:nvPr/>
        </p:nvSpPr>
        <p:spPr>
          <a:xfrm>
            <a:off x="8732520" y="1737360"/>
            <a:ext cx="2926080" cy="1234440"/>
          </a:xfrm>
          <a:prstGeom prst="roundRect">
            <a:avLst>
              <a:gd name="adj" fmla="val 13333"/>
            </a:avLst>
          </a:prstGeom>
          <a:solidFill>
            <a:schemeClr val="bg2"/>
          </a:solidFill>
          <a:ln/>
          <a:effectLst>
            <a:outerShdw sx="100000" sy="100000" kx="0" ky="0" algn="bl" rotWithShape="0" blurRad="127000" dist="38100" dir="5400000">
              <a:srgbClr val="0B1B33">
                <a:alpha val="16000"/>
              </a:srgbClr>
            </a:outerShdw>
          </a:effectLst>
        </p:spPr>
      </p:sp>
      <p:sp>
        <p:nvSpPr>
          <p:cNvPr id="47" name="icono FiCloud"/>
          <p:cNvSpPr/>
          <p:nvPr/>
        </p:nvSpPr>
        <p:spPr>
          <a:xfrm>
            <a:off x="8897112" y="1920240"/>
            <a:ext cx="530352" cy="530352"/>
          </a:xfrm>
          <a:prstGeom prst="ellipse">
            <a:avLst/>
          </a:prstGeom>
          <a:solidFill>
            <a:srgbClr val="6F5CFF"/>
          </a:solidFill>
          <a:ln/>
        </p:spPr>
      </p:sp>
      <p:pic>
        <p:nvPicPr>
          <p:cNvPr id="48" name="Image 10" descr="FiCloud">    </p:cNvPr>
          <p:cNvPicPr>
            <a:picLocks noChangeAspect="1"/>
          </p:cNvPicPr>
          <p:nvPr/>
        </p:nvPicPr>
        <p:blipFill>
          <a:blip r:embed="rId11"/>
          <a:stretch>
            <a:fillRect/>
          </a:stretch>
        </p:blipFill>
        <p:spPr>
          <a:xfrm>
            <a:off x="9024396" y="2047524"/>
            <a:ext cx="275783" cy="275783"/>
          </a:xfrm>
          <a:prstGeom prst="rect">
            <a:avLst/>
          </a:prstGeom>
        </p:spPr>
      </p:pic>
      <p:sp>
        <p:nvSpPr>
          <p:cNvPr id="49" name="Text 36"/>
          <p:cNvSpPr txBox="1"/>
          <p:nvPr/>
        </p:nvSpPr>
        <p:spPr>
          <a:xfrm>
            <a:off x="9555480" y="1865376"/>
            <a:ext cx="2011680" cy="329184"/>
          </a:xfrm>
          <a:prstGeom prst="rect">
            <a:avLst/>
          </a:prstGeom>
          <a:noFill/>
          <a:ln/>
        </p:spPr>
        <p:txBody>
          <a:bodyPr wrap="square" lIns="0" tIns="0" rIns="0" bIns="0" rtlCol="0" anchor="t"/>
          <a:lstStyle/>
          <a:p>
            <a:pPr indent="0" marL="0">
              <a:buNone/>
            </a:pPr>
            <a:r>
              <a:rPr lang="en-US" sz="1500" b="1" dirty="0">
                <a:solidFill>
                  <a:schemeClr val="tx1"/>
                </a:solidFill>
              </a:rPr>
              <a:t>En la nube</a:t>
            </a:r>
            <a:endParaRPr lang="en-US" sz="1500" dirty="0"/>
          </a:p>
        </p:txBody>
      </p:sp>
      <p:sp>
        <p:nvSpPr>
          <p:cNvPr id="50" name="Text 37"/>
          <p:cNvSpPr txBox="1"/>
          <p:nvPr/>
        </p:nvSpPr>
        <p:spPr>
          <a:xfrm>
            <a:off x="9555480" y="2194560"/>
            <a:ext cx="2011680" cy="731520"/>
          </a:xfrm>
          <a:prstGeom prst="rect">
            <a:avLst/>
          </a:prstGeom>
          <a:noFill/>
          <a:ln/>
        </p:spPr>
        <p:txBody>
          <a:bodyPr wrap="square" lIns="0" tIns="0" rIns="0" bIns="0" rtlCol="0" anchor="t"/>
          <a:lstStyle/>
          <a:p>
            <a:pPr indent="0" marL="0">
              <a:buNone/>
            </a:pPr>
            <a:r>
              <a:rPr lang="en-US" sz="1150" dirty="0">
                <a:solidFill>
                  <a:srgbClr val="475A75"/>
                </a:solidFill>
              </a:rPr>
              <a:t>Anthropic · Gemini · OpenAI · OpenRouter</a:t>
            </a:r>
            <a:endParaRPr lang="en-US" sz="1150" dirty="0"/>
          </a:p>
        </p:txBody>
      </p:sp>
      <p:sp>
        <p:nvSpPr>
          <p:cNvPr id="51" name="modelo En tu equipo"/>
          <p:cNvSpPr/>
          <p:nvPr/>
        </p:nvSpPr>
        <p:spPr>
          <a:xfrm>
            <a:off x="8732520" y="3154680"/>
            <a:ext cx="2926080" cy="1234440"/>
          </a:xfrm>
          <a:prstGeom prst="roundRect">
            <a:avLst>
              <a:gd name="adj" fmla="val 13333"/>
            </a:avLst>
          </a:prstGeom>
          <a:solidFill>
            <a:schemeClr val="bg2"/>
          </a:solidFill>
          <a:ln/>
          <a:effectLst>
            <a:outerShdw sx="100000" sy="100000" kx="0" ky="0" algn="bl" rotWithShape="0" blurRad="127000" dist="38100" dir="5400000">
              <a:srgbClr val="0B1B33">
                <a:alpha val="16000"/>
              </a:srgbClr>
            </a:outerShdw>
          </a:effectLst>
        </p:spPr>
      </p:sp>
      <p:sp>
        <p:nvSpPr>
          <p:cNvPr id="52" name="icono FiHardDrive"/>
          <p:cNvSpPr/>
          <p:nvPr/>
        </p:nvSpPr>
        <p:spPr>
          <a:xfrm>
            <a:off x="8897112" y="3337560"/>
            <a:ext cx="530352" cy="530352"/>
          </a:xfrm>
          <a:prstGeom prst="ellipse">
            <a:avLst/>
          </a:prstGeom>
          <a:solidFill>
            <a:srgbClr val="6F5CFF"/>
          </a:solidFill>
          <a:ln/>
        </p:spPr>
      </p:sp>
      <p:pic>
        <p:nvPicPr>
          <p:cNvPr id="53" name="Image 11" descr="FiHardDrive">    </p:cNvPr>
          <p:cNvPicPr>
            <a:picLocks noChangeAspect="1"/>
          </p:cNvPicPr>
          <p:nvPr/>
        </p:nvPicPr>
        <p:blipFill>
          <a:blip r:embed="rId12"/>
          <a:stretch>
            <a:fillRect/>
          </a:stretch>
        </p:blipFill>
        <p:spPr>
          <a:xfrm>
            <a:off x="9024396" y="3464844"/>
            <a:ext cx="275783" cy="275783"/>
          </a:xfrm>
          <a:prstGeom prst="rect">
            <a:avLst/>
          </a:prstGeom>
        </p:spPr>
      </p:pic>
      <p:sp>
        <p:nvSpPr>
          <p:cNvPr id="54" name="Text 40"/>
          <p:cNvSpPr txBox="1"/>
          <p:nvPr/>
        </p:nvSpPr>
        <p:spPr>
          <a:xfrm>
            <a:off x="9555480" y="3282696"/>
            <a:ext cx="2011680" cy="329184"/>
          </a:xfrm>
          <a:prstGeom prst="rect">
            <a:avLst/>
          </a:prstGeom>
          <a:noFill/>
          <a:ln/>
        </p:spPr>
        <p:txBody>
          <a:bodyPr wrap="square" lIns="0" tIns="0" rIns="0" bIns="0" rtlCol="0" anchor="t"/>
          <a:lstStyle/>
          <a:p>
            <a:pPr indent="0" marL="0">
              <a:buNone/>
            </a:pPr>
            <a:r>
              <a:rPr lang="en-US" sz="1500" b="1" dirty="0">
                <a:solidFill>
                  <a:schemeClr val="tx1"/>
                </a:solidFill>
              </a:rPr>
              <a:t>En tu equipo</a:t>
            </a:r>
            <a:endParaRPr lang="en-US" sz="1500" dirty="0"/>
          </a:p>
        </p:txBody>
      </p:sp>
      <p:sp>
        <p:nvSpPr>
          <p:cNvPr id="55" name="Text 41"/>
          <p:cNvSpPr txBox="1"/>
          <p:nvPr/>
        </p:nvSpPr>
        <p:spPr>
          <a:xfrm>
            <a:off x="9555480" y="3611880"/>
            <a:ext cx="2011680" cy="731520"/>
          </a:xfrm>
          <a:prstGeom prst="rect">
            <a:avLst/>
          </a:prstGeom>
          <a:noFill/>
          <a:ln/>
        </p:spPr>
        <p:txBody>
          <a:bodyPr wrap="square" lIns="0" tIns="0" rIns="0" bIns="0" rtlCol="0" anchor="t"/>
          <a:lstStyle/>
          <a:p>
            <a:pPr indent="0" marL="0">
              <a:buNone/>
            </a:pPr>
            <a:r>
              <a:rPr lang="en-US" sz="1150" dirty="0">
                <a:solidFill>
                  <a:srgbClr val="475A75"/>
                </a:solidFill>
              </a:rPr>
              <a:t>Ollama · LM Studio · vLLM · LiteLLM</a:t>
            </a:r>
            <a:endParaRPr lang="en-US" sz="1150" dirty="0"/>
          </a:p>
        </p:txBody>
      </p:sp>
      <p:sp>
        <p:nvSpPr>
          <p:cNvPr id="56" name="modelo Agentes externos"/>
          <p:cNvSpPr/>
          <p:nvPr/>
        </p:nvSpPr>
        <p:spPr>
          <a:xfrm>
            <a:off x="8732520" y="4572000"/>
            <a:ext cx="2926080" cy="1234440"/>
          </a:xfrm>
          <a:prstGeom prst="roundRect">
            <a:avLst>
              <a:gd name="adj" fmla="val 13333"/>
            </a:avLst>
          </a:prstGeom>
          <a:solidFill>
            <a:schemeClr val="bg2"/>
          </a:solidFill>
          <a:ln/>
          <a:effectLst>
            <a:outerShdw sx="100000" sy="100000" kx="0" ky="0" algn="bl" rotWithShape="0" blurRad="127000" dist="38100" dir="5400000">
              <a:srgbClr val="0B1B33">
                <a:alpha val="16000"/>
              </a:srgbClr>
            </a:outerShdw>
          </a:effectLst>
        </p:spPr>
      </p:sp>
      <p:sp>
        <p:nvSpPr>
          <p:cNvPr id="57" name="icono FiUsers"/>
          <p:cNvSpPr/>
          <p:nvPr/>
        </p:nvSpPr>
        <p:spPr>
          <a:xfrm>
            <a:off x="8897112" y="4754880"/>
            <a:ext cx="530352" cy="530352"/>
          </a:xfrm>
          <a:prstGeom prst="ellipse">
            <a:avLst/>
          </a:prstGeom>
          <a:solidFill>
            <a:srgbClr val="6F5CFF"/>
          </a:solidFill>
          <a:ln/>
        </p:spPr>
      </p:sp>
      <p:pic>
        <p:nvPicPr>
          <p:cNvPr id="58" name="Image 12" descr="FiUsers">    </p:cNvPr>
          <p:cNvPicPr>
            <a:picLocks noChangeAspect="1"/>
          </p:cNvPicPr>
          <p:nvPr/>
        </p:nvPicPr>
        <p:blipFill>
          <a:blip r:embed="rId13"/>
          <a:stretch>
            <a:fillRect/>
          </a:stretch>
        </p:blipFill>
        <p:spPr>
          <a:xfrm>
            <a:off x="9024396" y="4882164"/>
            <a:ext cx="275783" cy="275783"/>
          </a:xfrm>
          <a:prstGeom prst="rect">
            <a:avLst/>
          </a:prstGeom>
        </p:spPr>
      </p:pic>
      <p:sp>
        <p:nvSpPr>
          <p:cNvPr id="59" name="Text 44"/>
          <p:cNvSpPr txBox="1"/>
          <p:nvPr/>
        </p:nvSpPr>
        <p:spPr>
          <a:xfrm>
            <a:off x="9555480" y="4700016"/>
            <a:ext cx="2011680" cy="329184"/>
          </a:xfrm>
          <a:prstGeom prst="rect">
            <a:avLst/>
          </a:prstGeom>
          <a:noFill/>
          <a:ln/>
        </p:spPr>
        <p:txBody>
          <a:bodyPr wrap="square" lIns="0" tIns="0" rIns="0" bIns="0" rtlCol="0" anchor="t"/>
          <a:lstStyle/>
          <a:p>
            <a:pPr indent="0" marL="0">
              <a:buNone/>
            </a:pPr>
            <a:r>
              <a:rPr lang="en-US" sz="1500" b="1" dirty="0">
                <a:solidFill>
                  <a:schemeClr val="tx1"/>
                </a:solidFill>
              </a:rPr>
              <a:t>Agentes externos</a:t>
            </a:r>
            <a:endParaRPr lang="en-US" sz="1500" dirty="0"/>
          </a:p>
        </p:txBody>
      </p:sp>
      <p:sp>
        <p:nvSpPr>
          <p:cNvPr id="60" name="Text 45"/>
          <p:cNvSpPr txBox="1"/>
          <p:nvPr/>
        </p:nvSpPr>
        <p:spPr>
          <a:xfrm>
            <a:off x="9555480" y="5029200"/>
            <a:ext cx="2011680" cy="731520"/>
          </a:xfrm>
          <a:prstGeom prst="rect">
            <a:avLst/>
          </a:prstGeom>
          <a:noFill/>
          <a:ln/>
        </p:spPr>
        <p:txBody>
          <a:bodyPr wrap="square" lIns="0" tIns="0" rIns="0" bIns="0" rtlCol="0" anchor="t"/>
          <a:lstStyle/>
          <a:p>
            <a:pPr indent="0" marL="0">
              <a:buNone/>
            </a:pPr>
            <a:r>
              <a:rPr lang="en-US" sz="1150" dirty="0">
                <a:solidFill>
                  <a:srgbClr val="475A75"/>
                </a:solidFill>
              </a:rPr>
              <a:t>Claude Code · Copilot · Gemini CLI · opencode, en sandbox</a:t>
            </a:r>
            <a:endParaRPr lang="en-US" sz="1150" dirty="0"/>
          </a:p>
        </p:txBody>
      </p:sp>
      <p:sp>
        <p:nvSpPr>
          <p:cNvPr id="61" name="flecha API"/>
          <p:cNvSpPr/>
          <p:nvPr/>
        </p:nvSpPr>
        <p:spPr>
          <a:xfrm>
            <a:off x="3520440" y="3794760"/>
            <a:ext cx="594360" cy="0"/>
          </a:xfrm>
          <a:prstGeom prst="line">
            <a:avLst/>
          </a:prstGeom>
          <a:noFill/>
          <a:ln w="28575">
            <a:solidFill>
              <a:srgbClr val="0B57D0"/>
            </a:solidFill>
            <a:prstDash val="solid"/>
            <a:headEnd type="triangle"/>
            <a:tailEnd type="triangle"/>
          </a:ln>
        </p:spPr>
      </p:sp>
      <p:sp>
        <p:nvSpPr>
          <p:cNvPr id="62" name="Text 47"/>
          <p:cNvSpPr txBox="1"/>
          <p:nvPr/>
        </p:nvSpPr>
        <p:spPr>
          <a:xfrm>
            <a:off x="3337560" y="3383280"/>
            <a:ext cx="960120" cy="274320"/>
          </a:xfrm>
          <a:prstGeom prst="rect">
            <a:avLst/>
          </a:prstGeom>
          <a:noFill/>
          <a:ln/>
        </p:spPr>
        <p:txBody>
          <a:bodyPr wrap="square" lIns="0" tIns="0" rIns="0" bIns="0" rtlCol="0" anchor="t"/>
          <a:lstStyle/>
          <a:p>
            <a:pPr algn="ctr" indent="0" marL="0">
              <a:buNone/>
            </a:pPr>
            <a:r>
              <a:rPr lang="en-US" sz="1000" dirty="0">
                <a:solidFill>
                  <a:srgbClr val="475A75"/>
                </a:solidFill>
              </a:rPr>
              <a:t>API</a:t>
            </a:r>
            <a:endParaRPr lang="en-US" sz="1000" dirty="0"/>
          </a:p>
        </p:txBody>
      </p:sp>
      <p:sp>
        <p:nvSpPr>
          <p:cNvPr id="63" name="flecha HTTP · CLI"/>
          <p:cNvSpPr/>
          <p:nvPr/>
        </p:nvSpPr>
        <p:spPr>
          <a:xfrm>
            <a:off x="8092440" y="3794760"/>
            <a:ext cx="594360" cy="0"/>
          </a:xfrm>
          <a:prstGeom prst="line">
            <a:avLst/>
          </a:prstGeom>
          <a:noFill/>
          <a:ln w="28575">
            <a:solidFill>
              <a:srgbClr val="0B57D0"/>
            </a:solidFill>
            <a:prstDash val="solid"/>
            <a:headEnd type="triangle"/>
            <a:tailEnd type="triangle"/>
          </a:ln>
        </p:spPr>
      </p:sp>
      <p:sp>
        <p:nvSpPr>
          <p:cNvPr id="64" name="Text 49"/>
          <p:cNvSpPr txBox="1"/>
          <p:nvPr/>
        </p:nvSpPr>
        <p:spPr>
          <a:xfrm>
            <a:off x="7909560" y="3383280"/>
            <a:ext cx="960120" cy="274320"/>
          </a:xfrm>
          <a:prstGeom prst="rect">
            <a:avLst/>
          </a:prstGeom>
          <a:noFill/>
          <a:ln/>
        </p:spPr>
        <p:txBody>
          <a:bodyPr wrap="square" lIns="0" tIns="0" rIns="0" bIns="0" rtlCol="0" anchor="t"/>
          <a:lstStyle/>
          <a:p>
            <a:pPr algn="ctr" indent="0" marL="0">
              <a:buNone/>
            </a:pPr>
            <a:r>
              <a:rPr lang="en-US" sz="1000" dirty="0">
                <a:solidFill>
                  <a:srgbClr val="475A75"/>
                </a:solidFill>
              </a:rPr>
              <a:t>HTTP · CLI</a:t>
            </a:r>
            <a:endParaRPr lang="en-US" sz="1000" dirty="0"/>
          </a:p>
        </p:txBody>
      </p:sp>
      <p:sp>
        <p:nvSpPr>
          <p:cNvPr id="65" name="Text 50"/>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300" i="1" dirty="0">
                <a:solidFill>
                  <a:srgbClr val="475A75"/>
                </a:solidFill>
              </a:rPr>
              <a:t>Una sesión empezada en la terminal se sigue en Studio o en el móvil: todos hablan con el mismo demonio.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8229600" cy="457200"/>
          </a:xfrm>
          <a:prstGeom prst="rect">
            <a:avLst/>
          </a:prstGeom>
          <a:noFill/>
          <a:ln/>
        </p:spPr>
        <p:txBody>
          <a:bodyPr wrap="square" rtlCol="0"/>
          <a:lstStyle/>
          <a:p>
            <a:pPr indent="0" marL="0">
              <a:buNone/>
            </a:pPr>
            <a:r>
              <a:rPr lang="en-US" sz="1600" b="1" spc="300" kern="0" dirty="0">
                <a:solidFill>
                  <a:schemeClr val="accent3"/>
                </a:solidFill>
              </a:rPr>
              <a:t>POR QUÉ CAMBIAR</a:t>
            </a:r>
            <a:endParaRPr lang="en-US" sz="1600" dirty="0"/>
          </a:p>
        </p:txBody>
      </p:sp>
      <p:sp>
        <p:nvSpPr>
          <p:cNvPr id="3" name="Text 0"/>
          <p:cNvSpPr/>
          <p:nvPr>
            <p:ph idx="101" type="title" hasCustomPrompt="1"/>
          </p:nvPr>
        </p:nvSpPr>
        <p:spPr>
          <a:xfrm>
            <a:off x="731520" y="2606040"/>
            <a:ext cx="10515600" cy="1188720"/>
          </a:xfrm>
          <a:prstGeom prst="rect">
            <a:avLst/>
          </a:prstGeom>
          <a:noFill/>
          <a:ln/>
        </p:spPr>
        <p:txBody>
          <a:bodyPr wrap="square" rtlCol="0"/>
          <a:lstStyle/>
          <a:p>
            <a:pPr algn="l" indent="0" marL="0">
              <a:buNone/>
            </a:pPr>
            <a:r>
              <a:rPr lang="en-US" sz="4400" b="1" dirty="0">
                <a:solidFill>
                  <a:schemeClr val="bg1"/>
                </a:solidFill>
              </a:rPr>
              <a:t>Mejor que VS Code y que opencode</a:t>
            </a:r>
            <a:endParaRPr lang="en-US" sz="4400" dirty="0"/>
          </a:p>
        </p:txBody>
      </p:sp>
      <p:sp>
        <p:nvSpPr>
          <p:cNvPr id="4" name="Text 0"/>
          <p:cNvSpPr/>
          <p:nvPr>
            <p:ph idx="102" type="body" hasCustomPrompt="1"/>
          </p:nvPr>
        </p:nvSpPr>
        <p:spPr>
          <a:xfrm>
            <a:off x="731520" y="3840480"/>
            <a:ext cx="9601200" cy="914400"/>
          </a:xfrm>
          <a:prstGeom prst="rect">
            <a:avLst/>
          </a:prstGeom>
          <a:noFill/>
          <a:ln/>
        </p:spPr>
        <p:txBody>
          <a:bodyPr wrap="square" rtlCol="0"/>
          <a:lstStyle/>
          <a:p>
            <a:pPr indent="0" marL="0">
              <a:buNone/>
            </a:pPr>
            <a:r>
              <a:rPr lang="en-US" sz="1800" dirty="0">
                <a:solidFill>
                  <a:srgbClr val="CFE0FB"/>
                </a:solidFill>
              </a:rPr>
              <a:t>VS Code es un gran editor al que se le añade un agente. opencode es un gran agente de terminal. PublicCode es las dos cosas, con el motor de seguridad en medio.</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Frente a VS Code: el agente es parte del editor</a:t>
            </a:r>
            <a:endParaRPr lang="en-US" sz="3200" dirty="0"/>
          </a:p>
        </p:txBody>
      </p:sp>
      <p:graphicFrame>
        <p:nvGraphicFramePr>
          <p:cNvPr id="6" name="tabla VS Code"/>
          <p:cNvGraphicFramePr>
            <a:graphicFrameLocks noGrp="1"/>
          </p:cNvGraphicFramePr>
          <p:nvPr>
            <p:extLst>
              <p:ext uri="{D42A27DB-BD31-4B8C-83A1-F6EECF244321}">
                <p14:modId xmlns:p14="http://schemas.microsoft.com/office/powerpoint/2010/main" val="1579011935"/>
              </p:ext>
            </p:extLst>
          </p:nvPr>
        </p:nvGraphicFramePr>
        <p:xfrm>
          <a:off x="548640" y="1234440"/>
          <a:ext cx="6949440" cy="914400"/>
        </p:xfrm>
        <a:graphic>
          <a:graphicData uri="http://schemas.openxmlformats.org/drawingml/2006/table">
            <a:tbl>
              <a:tblPr/>
              <a:tblGrid>
                <a:gridCol w="3931920"/>
                <a:gridCol w="1371600"/>
                <a:gridCol w="1645920"/>
              </a:tblGrid>
              <a:tr h="475488">
                <a:tc>
                  <a:txBody>
                    <a:bodyPr/>
                    <a:lstStyle/>
                    <a:p>
                      <a:pPr algn="ctr" indent="0" marL="0">
                        <a:buNone/>
                      </a:pP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VS Code</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PublicCode</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r>
              <a:tr h="475488">
                <a:tc>
                  <a:txBody>
                    <a:bodyPr/>
                    <a:lstStyle/>
                    <a:p>
                      <a:pPr indent="0" marL="0">
                        <a:buNone/>
                      </a:pPr>
                      <a:r>
                        <a:rPr lang="en-US" sz="1250" dirty="0">
                          <a:solidFill>
                            <a:srgbClr val="0B1B33"/>
                          </a:solidFill>
                        </a:rPr>
                        <a:t>Agente integrado: streaming, aprobaciones y modo plan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con extensión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de serie</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Deshacer lo que hizo el agente, turno a turno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según la extensión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 y Actividad</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Mensaje de commit generado y revisión antes del commit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con extensión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 Generar · ✦ Revisar</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Arreglar un error con su diagnóstico (Problemas, hover, terminal)</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 Arreglar</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Política que impone el motor y auditoría con hash encadenado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Modelos en la nube y locales desde una pantalla de Ajustes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con extensiones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8 plantillas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Aprobar al agente desde el móvil</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APK</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Depurador y extensiones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en el plan (1.x)</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bl>
          </a:graphicData>
        </a:graphic>
      </p:graphicFrame>
      <p:sp>
        <p:nvSpPr>
          <p:cNvPr id="4" name="lo que no cambia"/>
          <p:cNvSpPr/>
          <p:nvPr/>
        </p:nvSpPr>
        <p:spPr>
          <a:xfrm>
            <a:off x="7863840" y="1234440"/>
            <a:ext cx="3794760" cy="4892040"/>
          </a:xfrm>
          <a:prstGeom prst="roundRect">
            <a:avLst>
              <a:gd name="adj" fmla="val 4337"/>
            </a:avLst>
          </a:prstGeom>
          <a:solidFill>
            <a:schemeClr val="bg2"/>
          </a:solidFill>
          <a:ln/>
          <a:effectLst>
            <a:outerShdw sx="100000" sy="100000" kx="0" ky="0" algn="bl" rotWithShape="0" blurRad="127000" dist="38100" dir="5400000">
              <a:srgbClr val="0B1B33">
                <a:alpha val="16000"/>
              </a:srgbClr>
            </a:outerShdw>
          </a:effectLst>
        </p:spPr>
      </p:sp>
      <p:sp>
        <p:nvSpPr>
          <p:cNvPr id="5" name="icono FiMonitor"/>
          <p:cNvSpPr/>
          <p:nvPr/>
        </p:nvSpPr>
        <p:spPr>
          <a:xfrm>
            <a:off x="8138160" y="1463040"/>
            <a:ext cx="603504" cy="603504"/>
          </a:xfrm>
          <a:prstGeom prst="ellipse">
            <a:avLst/>
          </a:prstGeom>
          <a:solidFill>
            <a:srgbClr val="0B57D0"/>
          </a:solidFill>
          <a:ln/>
        </p:spPr>
      </p:sp>
      <p:pic>
        <p:nvPicPr>
          <p:cNvPr id="6" name="Image 0" descr="FiMonitor">    </p:cNvPr>
          <p:cNvPicPr>
            <a:picLocks noChangeAspect="1"/>
          </p:cNvPicPr>
          <p:nvPr/>
        </p:nvPicPr>
        <p:blipFill>
          <a:blip r:embed="rId1"/>
          <a:stretch>
            <a:fillRect/>
          </a:stretch>
        </p:blipFill>
        <p:spPr>
          <a:xfrm>
            <a:off x="8283001" y="1607881"/>
            <a:ext cx="313822" cy="313822"/>
          </a:xfrm>
          <a:prstGeom prst="rect">
            <a:avLst/>
          </a:prstGeom>
        </p:spPr>
      </p:pic>
      <p:sp>
        <p:nvSpPr>
          <p:cNvPr id="7" name="Text 3"/>
          <p:cNvSpPr txBox="1"/>
          <p:nvPr/>
        </p:nvSpPr>
        <p:spPr>
          <a:xfrm>
            <a:off x="8869680" y="1554480"/>
            <a:ext cx="2651760" cy="457200"/>
          </a:xfrm>
          <a:prstGeom prst="rect">
            <a:avLst/>
          </a:prstGeom>
          <a:noFill/>
          <a:ln/>
        </p:spPr>
        <p:txBody>
          <a:bodyPr wrap="square" lIns="0" tIns="0" rIns="0" bIns="0" rtlCol="0" anchor="t"/>
          <a:lstStyle/>
          <a:p>
            <a:pPr indent="0" marL="0">
              <a:buNone/>
            </a:pPr>
            <a:r>
              <a:rPr lang="en-US" sz="1600" b="1" dirty="0">
                <a:solidFill>
                  <a:schemeClr val="tx1"/>
                </a:solidFill>
              </a:rPr>
              <a:t>Lo que ya usas, también</a:t>
            </a:r>
            <a:endParaRPr lang="en-US" sz="1600" dirty="0"/>
          </a:p>
        </p:txBody>
      </p:sp>
      <p:sp>
        <p:nvSpPr>
          <p:cNvPr id="8" name="Text 4"/>
          <p:cNvSpPr txBox="1"/>
          <p:nvPr/>
        </p:nvSpPr>
        <p:spPr>
          <a:xfrm>
            <a:off x="8138160" y="2331720"/>
            <a:ext cx="3291840" cy="35661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0B1B33"/>
                </a:solidFill>
              </a:rPr>
              <a:t>Pestañas, resaltado, buscar y reemplazar, Ctrl+P y paleta</a:t>
            </a:r>
            <a:endParaRPr lang="en-US" sz="1350" dirty="0"/>
          </a:p>
          <a:p>
            <a:pPr marL="342900" indent="-342900">
              <a:spcAft>
                <a:spcPts val="900"/>
              </a:spcAft>
              <a:buSzPct val="100000"/>
              <a:buChar char="•"/>
            </a:pPr>
            <a:r>
              <a:rPr lang="en-US" sz="1350" dirty="0">
                <a:solidFill>
                  <a:srgbClr val="0B1B33"/>
                </a:solidFill>
              </a:rPr>
              <a:t>LSP: definición, referencias, hover y errores en línea</a:t>
            </a:r>
            <a:endParaRPr lang="en-US" sz="1350" dirty="0"/>
          </a:p>
          <a:p>
            <a:pPr marL="342900" indent="-342900">
              <a:spcAft>
                <a:spcPts val="900"/>
              </a:spcAft>
              <a:buSzPct val="100000"/>
              <a:buChar char="•"/>
            </a:pPr>
            <a:r>
              <a:rPr lang="en-US" sz="1350" dirty="0">
                <a:solidFill>
                  <a:srgbClr val="0B1B33"/>
                </a:solidFill>
              </a:rPr>
              <a:t>Esquema, migas de pan, Ctrl+T y marcas de git en el margen</a:t>
            </a:r>
            <a:endParaRPr lang="en-US" sz="1350" dirty="0"/>
          </a:p>
          <a:p>
            <a:pPr marL="342900" indent="-342900">
              <a:spcAft>
                <a:spcPts val="900"/>
              </a:spcAft>
              <a:buSzPct val="100000"/>
              <a:buChar char="•"/>
            </a:pPr>
            <a:r>
              <a:rPr lang="en-US" sz="1350" dirty="0">
                <a:solidFill>
                  <a:srgbClr val="0B1B33"/>
                </a:solidFill>
              </a:rPr>
              <a:t>Git con diff y commit, terminal y tareas del proyecto</a:t>
            </a:r>
            <a:endParaRPr lang="en-US" sz="1350" dirty="0"/>
          </a:p>
          <a:p>
            <a:pPr marL="342900" indent="-342900">
              <a:spcAft>
                <a:spcPts val="900"/>
              </a:spcAft>
              <a:buSzPct val="100000"/>
              <a:buChar char="•"/>
            </a:pPr>
            <a:r>
              <a:rPr lang="en-US" sz="1350" dirty="0">
                <a:solidFill>
                  <a:srgbClr val="0B1B33"/>
                </a:solidFill>
              </a:rPr>
              <a:t>Temas claro, oscuro y medianoche; paneles redimensionables</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Studio: editor, git, terminal y el agente al lado</a:t>
            </a:r>
            <a:endParaRPr lang="en-US" sz="3200" dirty="0"/>
          </a:p>
        </p:txBody>
      </p:sp>
      <p:sp>
        <p:nvSpPr>
          <p:cNvPr id="3" name="marco studio-claro.png"/>
          <p:cNvSpPr/>
          <p:nvPr/>
        </p:nvSpPr>
        <p:spPr>
          <a:xfrm>
            <a:off x="493776" y="1179576"/>
            <a:ext cx="7790688" cy="4910328"/>
          </a:xfrm>
          <a:prstGeom prst="roundRect">
            <a:avLst>
              <a:gd name="adj" fmla="val 2235"/>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4" name="Image 0" descr="Studio con el explorador, el editor y el agente con la tarjeta de cambios del turno">    </p:cNvPr>
          <p:cNvPicPr>
            <a:picLocks noChangeAspect="1"/>
          </p:cNvPicPr>
          <p:nvPr/>
        </p:nvPicPr>
        <p:blipFill>
          <a:blip r:embed="rId1"/>
          <a:stretch>
            <a:fillRect/>
          </a:stretch>
        </p:blipFill>
        <p:spPr>
          <a:xfrm>
            <a:off x="548640" y="1234440"/>
            <a:ext cx="7680960" cy="4800600"/>
          </a:xfrm>
          <a:prstGeom prst="rect">
            <a:avLst/>
          </a:prstGeom>
        </p:spPr>
      </p:pic>
      <p:sp>
        <p:nvSpPr>
          <p:cNvPr id="5" name="marca 1"/>
          <p:cNvSpPr/>
          <p:nvPr/>
        </p:nvSpPr>
        <p:spPr>
          <a:xfrm>
            <a:off x="1156716" y="1789176"/>
            <a:ext cx="384048" cy="384048"/>
          </a:xfrm>
          <a:prstGeom prst="ellipse">
            <a:avLst/>
          </a:prstGeom>
          <a:solidFill>
            <a:srgbClr val="6F5CFF"/>
          </a:solidFill>
          <a:ln w="19050">
            <a:solidFill>
              <a:srgbClr val="FFFFFF"/>
            </a:solidFill>
            <a:prstDash val="solid"/>
          </a:ln>
        </p:spPr>
      </p:sp>
      <p:sp>
        <p:nvSpPr>
          <p:cNvPr id="6" name="Text 3"/>
          <p:cNvSpPr txBox="1"/>
          <p:nvPr/>
        </p:nvSpPr>
        <p:spPr>
          <a:xfrm>
            <a:off x="1156716" y="1789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marca 2"/>
          <p:cNvSpPr/>
          <p:nvPr/>
        </p:nvSpPr>
        <p:spPr>
          <a:xfrm>
            <a:off x="3343656" y="1559814"/>
            <a:ext cx="384048" cy="384048"/>
          </a:xfrm>
          <a:prstGeom prst="ellipse">
            <a:avLst/>
          </a:prstGeom>
          <a:solidFill>
            <a:srgbClr val="6F5CFF"/>
          </a:solidFill>
          <a:ln w="19050">
            <a:solidFill>
              <a:srgbClr val="FFFFFF"/>
            </a:solidFill>
            <a:prstDash val="solid"/>
          </a:ln>
        </p:spPr>
      </p:sp>
      <p:sp>
        <p:nvSpPr>
          <p:cNvPr id="8" name="Text 5"/>
          <p:cNvSpPr txBox="1"/>
          <p:nvPr/>
        </p:nvSpPr>
        <p:spPr>
          <a:xfrm>
            <a:off x="3343656" y="155981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marca 3"/>
          <p:cNvSpPr/>
          <p:nvPr/>
        </p:nvSpPr>
        <p:spPr>
          <a:xfrm>
            <a:off x="7024116" y="2482596"/>
            <a:ext cx="384048" cy="384048"/>
          </a:xfrm>
          <a:prstGeom prst="ellipse">
            <a:avLst/>
          </a:prstGeom>
          <a:solidFill>
            <a:srgbClr val="6F5CFF"/>
          </a:solidFill>
          <a:ln w="19050">
            <a:solidFill>
              <a:srgbClr val="FFFFFF"/>
            </a:solidFill>
            <a:prstDash val="solid"/>
          </a:ln>
        </p:spPr>
      </p:sp>
      <p:sp>
        <p:nvSpPr>
          <p:cNvPr id="10" name="Text 7"/>
          <p:cNvSpPr txBox="1"/>
          <p:nvPr/>
        </p:nvSpPr>
        <p:spPr>
          <a:xfrm>
            <a:off x="7024116" y="24825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marca 4"/>
          <p:cNvSpPr/>
          <p:nvPr/>
        </p:nvSpPr>
        <p:spPr>
          <a:xfrm>
            <a:off x="7024116" y="3229356"/>
            <a:ext cx="384048" cy="384048"/>
          </a:xfrm>
          <a:prstGeom prst="ellipse">
            <a:avLst/>
          </a:prstGeom>
          <a:solidFill>
            <a:srgbClr val="6F5CFF"/>
          </a:solidFill>
          <a:ln w="19050">
            <a:solidFill>
              <a:srgbClr val="FFFFFF"/>
            </a:solidFill>
            <a:prstDash val="solid"/>
          </a:ln>
        </p:spPr>
      </p:sp>
      <p:sp>
        <p:nvSpPr>
          <p:cNvPr id="12" name="Text 9"/>
          <p:cNvSpPr txBox="1"/>
          <p:nvPr/>
        </p:nvSpPr>
        <p:spPr>
          <a:xfrm>
            <a:off x="7024116" y="32293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3" name="marca 5"/>
          <p:cNvSpPr/>
          <p:nvPr/>
        </p:nvSpPr>
        <p:spPr>
          <a:xfrm>
            <a:off x="1103376" y="5773674"/>
            <a:ext cx="384048" cy="384048"/>
          </a:xfrm>
          <a:prstGeom prst="ellipse">
            <a:avLst/>
          </a:prstGeom>
          <a:solidFill>
            <a:srgbClr val="6F5CFF"/>
          </a:solidFill>
          <a:ln w="19050">
            <a:solidFill>
              <a:srgbClr val="FFFFFF"/>
            </a:solidFill>
            <a:prstDash val="solid"/>
          </a:ln>
        </p:spPr>
      </p:sp>
      <p:sp>
        <p:nvSpPr>
          <p:cNvPr id="14" name="Text 11"/>
          <p:cNvSpPr txBox="1"/>
          <p:nvPr/>
        </p:nvSpPr>
        <p:spPr>
          <a:xfrm>
            <a:off x="1103376" y="577367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5" name="leyenda 1"/>
          <p:cNvSpPr/>
          <p:nvPr/>
        </p:nvSpPr>
        <p:spPr>
          <a:xfrm>
            <a:off x="8549640" y="1280160"/>
            <a:ext cx="384048" cy="384048"/>
          </a:xfrm>
          <a:prstGeom prst="ellipse">
            <a:avLst/>
          </a:prstGeom>
          <a:solidFill>
            <a:srgbClr val="6F5CFF"/>
          </a:solidFill>
          <a:ln/>
        </p:spPr>
      </p:sp>
      <p:sp>
        <p:nvSpPr>
          <p:cNvPr id="16" name="Text 13"/>
          <p:cNvSpPr txBox="1"/>
          <p:nvPr/>
        </p:nvSpPr>
        <p:spPr>
          <a:xfrm>
            <a:off x="854964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4"/>
          <p:cNvSpPr txBox="1"/>
          <p:nvPr/>
        </p:nvSpPr>
        <p:spPr>
          <a:xfrm>
            <a:off x="9098280" y="1243584"/>
            <a:ext cx="2560320" cy="320040"/>
          </a:xfrm>
          <a:prstGeom prst="rect">
            <a:avLst/>
          </a:prstGeom>
          <a:noFill/>
          <a:ln/>
        </p:spPr>
        <p:txBody>
          <a:bodyPr wrap="square" lIns="0" tIns="0" rIns="0" bIns="0" rtlCol="0" anchor="t"/>
          <a:lstStyle/>
          <a:p>
            <a:pPr indent="0" marL="0">
              <a:buNone/>
            </a:pPr>
            <a:r>
              <a:rPr lang="en-US" sz="1500" b="1" dirty="0">
                <a:solidFill>
                  <a:schemeClr val="tx1"/>
                </a:solidFill>
              </a:rPr>
              <a:t>Explorador</a:t>
            </a:r>
            <a:endParaRPr lang="en-US" sz="1500" dirty="0"/>
          </a:p>
        </p:txBody>
      </p:sp>
      <p:sp>
        <p:nvSpPr>
          <p:cNvPr id="18" name="Text 15"/>
          <p:cNvSpPr txBox="1"/>
          <p:nvPr/>
        </p:nvSpPr>
        <p:spPr>
          <a:xfrm>
            <a:off x="9098280" y="1572768"/>
            <a:ext cx="2560320" cy="548640"/>
          </a:xfrm>
          <a:prstGeom prst="rect">
            <a:avLst/>
          </a:prstGeom>
          <a:noFill/>
          <a:ln/>
        </p:spPr>
        <p:txBody>
          <a:bodyPr wrap="square" lIns="0" tIns="0" rIns="0" bIns="0" rtlCol="0" anchor="t"/>
          <a:lstStyle/>
          <a:p>
            <a:pPr indent="0" marL="0">
              <a:buNone/>
            </a:pPr>
            <a:r>
              <a:rPr lang="en-US" sz="1250" dirty="0">
                <a:solidFill>
                  <a:srgbClr val="475A75"/>
                </a:solidFill>
              </a:rPr>
              <a:t>con estado de git e insignias por lenguaje</a:t>
            </a:r>
            <a:endParaRPr lang="en-US" sz="1250" dirty="0"/>
          </a:p>
        </p:txBody>
      </p:sp>
      <p:sp>
        <p:nvSpPr>
          <p:cNvPr id="19" name="leyenda 2"/>
          <p:cNvSpPr/>
          <p:nvPr/>
        </p:nvSpPr>
        <p:spPr>
          <a:xfrm>
            <a:off x="8549640" y="2240280"/>
            <a:ext cx="384048" cy="384048"/>
          </a:xfrm>
          <a:prstGeom prst="ellipse">
            <a:avLst/>
          </a:prstGeom>
          <a:solidFill>
            <a:srgbClr val="6F5CFF"/>
          </a:solidFill>
          <a:ln/>
        </p:spPr>
      </p:sp>
      <p:sp>
        <p:nvSpPr>
          <p:cNvPr id="20" name="Text 17"/>
          <p:cNvSpPr txBox="1"/>
          <p:nvPr/>
        </p:nvSpPr>
        <p:spPr>
          <a:xfrm>
            <a:off x="8549640"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1" name="Text 18"/>
          <p:cNvSpPr txBox="1"/>
          <p:nvPr/>
        </p:nvSpPr>
        <p:spPr>
          <a:xfrm>
            <a:off x="9098280" y="2203704"/>
            <a:ext cx="2560320" cy="320040"/>
          </a:xfrm>
          <a:prstGeom prst="rect">
            <a:avLst/>
          </a:prstGeom>
          <a:noFill/>
          <a:ln/>
        </p:spPr>
        <p:txBody>
          <a:bodyPr wrap="square" lIns="0" tIns="0" rIns="0" bIns="0" rtlCol="0" anchor="t"/>
          <a:lstStyle/>
          <a:p>
            <a:pPr indent="0" marL="0">
              <a:buNone/>
            </a:pPr>
            <a:r>
              <a:rPr lang="en-US" sz="1500" b="1" dirty="0">
                <a:solidFill>
                  <a:schemeClr val="tx1"/>
                </a:solidFill>
              </a:rPr>
              <a:t>Migas de pan</a:t>
            </a:r>
            <a:endParaRPr lang="en-US" sz="1500" dirty="0"/>
          </a:p>
        </p:txBody>
      </p:sp>
      <p:sp>
        <p:nvSpPr>
          <p:cNvPr id="22" name="Text 19"/>
          <p:cNvSpPr txBox="1"/>
          <p:nvPr/>
        </p:nvSpPr>
        <p:spPr>
          <a:xfrm>
            <a:off x="9098280" y="2532888"/>
            <a:ext cx="2560320" cy="548640"/>
          </a:xfrm>
          <a:prstGeom prst="rect">
            <a:avLst/>
          </a:prstGeom>
          <a:noFill/>
          <a:ln/>
        </p:spPr>
        <p:txBody>
          <a:bodyPr wrap="square" lIns="0" tIns="0" rIns="0" bIns="0" rtlCol="0" anchor="t"/>
          <a:lstStyle/>
          <a:p>
            <a:pPr indent="0" marL="0">
              <a:buNone/>
            </a:pPr>
            <a:r>
              <a:rPr lang="en-US" sz="1250" dirty="0">
                <a:solidFill>
                  <a:srgbClr val="475A75"/>
                </a:solidFill>
              </a:rPr>
              <a:t>archivo y símbolo en el que estás</a:t>
            </a:r>
            <a:endParaRPr lang="en-US" sz="1250" dirty="0"/>
          </a:p>
        </p:txBody>
      </p:sp>
      <p:sp>
        <p:nvSpPr>
          <p:cNvPr id="23" name="leyenda 3"/>
          <p:cNvSpPr/>
          <p:nvPr/>
        </p:nvSpPr>
        <p:spPr>
          <a:xfrm>
            <a:off x="8549640" y="3200400"/>
            <a:ext cx="384048" cy="384048"/>
          </a:xfrm>
          <a:prstGeom prst="ellipse">
            <a:avLst/>
          </a:prstGeom>
          <a:solidFill>
            <a:srgbClr val="6F5CFF"/>
          </a:solidFill>
          <a:ln/>
        </p:spPr>
      </p:sp>
      <p:sp>
        <p:nvSpPr>
          <p:cNvPr id="24" name="Text 21"/>
          <p:cNvSpPr txBox="1"/>
          <p:nvPr/>
        </p:nvSpPr>
        <p:spPr>
          <a:xfrm>
            <a:off x="85496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5" name="Text 22"/>
          <p:cNvSpPr txBox="1"/>
          <p:nvPr/>
        </p:nvSpPr>
        <p:spPr>
          <a:xfrm>
            <a:off x="9098280" y="3163824"/>
            <a:ext cx="2560320" cy="320040"/>
          </a:xfrm>
          <a:prstGeom prst="rect">
            <a:avLst/>
          </a:prstGeom>
          <a:noFill/>
          <a:ln/>
        </p:spPr>
        <p:txBody>
          <a:bodyPr wrap="square" lIns="0" tIns="0" rIns="0" bIns="0" rtlCol="0" anchor="t"/>
          <a:lstStyle/>
          <a:p>
            <a:pPr indent="0" marL="0">
              <a:buNone/>
            </a:pPr>
            <a:r>
              <a:rPr lang="en-US" sz="1500" b="1" dirty="0">
                <a:solidFill>
                  <a:schemeClr val="tx1"/>
                </a:solidFill>
              </a:rPr>
              <a:t>El agente</a:t>
            </a:r>
            <a:endParaRPr lang="en-US" sz="1500" dirty="0"/>
          </a:p>
        </p:txBody>
      </p:sp>
      <p:sp>
        <p:nvSpPr>
          <p:cNvPr id="26" name="Text 23"/>
          <p:cNvSpPr txBox="1"/>
          <p:nvPr/>
        </p:nvSpPr>
        <p:spPr>
          <a:xfrm>
            <a:off x="9098280" y="3493008"/>
            <a:ext cx="2560320" cy="548640"/>
          </a:xfrm>
          <a:prstGeom prst="rect">
            <a:avLst/>
          </a:prstGeom>
          <a:noFill/>
          <a:ln/>
        </p:spPr>
        <p:txBody>
          <a:bodyPr wrap="square" lIns="0" tIns="0" rIns="0" bIns="0" rtlCol="0" anchor="t"/>
          <a:lstStyle/>
          <a:p>
            <a:pPr indent="0" marL="0">
              <a:buNone/>
            </a:pPr>
            <a:r>
              <a:rPr lang="en-US" sz="1250" dirty="0">
                <a:solidFill>
                  <a:srgbClr val="475A75"/>
                </a:solidFill>
              </a:rPr>
              <a:t>conversación en streaming, con sus tools</a:t>
            </a:r>
            <a:endParaRPr lang="en-US" sz="1250" dirty="0"/>
          </a:p>
        </p:txBody>
      </p:sp>
      <p:sp>
        <p:nvSpPr>
          <p:cNvPr id="27" name="leyenda 4"/>
          <p:cNvSpPr/>
          <p:nvPr/>
        </p:nvSpPr>
        <p:spPr>
          <a:xfrm>
            <a:off x="8549640" y="4160520"/>
            <a:ext cx="384048" cy="384048"/>
          </a:xfrm>
          <a:prstGeom prst="ellipse">
            <a:avLst/>
          </a:prstGeom>
          <a:solidFill>
            <a:srgbClr val="6F5CFF"/>
          </a:solidFill>
          <a:ln/>
        </p:spPr>
      </p:sp>
      <p:sp>
        <p:nvSpPr>
          <p:cNvPr id="28" name="Text 25"/>
          <p:cNvSpPr txBox="1"/>
          <p:nvPr/>
        </p:nvSpPr>
        <p:spPr>
          <a:xfrm>
            <a:off x="854964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9" name="Text 26"/>
          <p:cNvSpPr txBox="1"/>
          <p:nvPr/>
        </p:nvSpPr>
        <p:spPr>
          <a:xfrm>
            <a:off x="9098280" y="4123944"/>
            <a:ext cx="2560320" cy="320040"/>
          </a:xfrm>
          <a:prstGeom prst="rect">
            <a:avLst/>
          </a:prstGeom>
          <a:noFill/>
          <a:ln/>
        </p:spPr>
        <p:txBody>
          <a:bodyPr wrap="square" lIns="0" tIns="0" rIns="0" bIns="0" rtlCol="0" anchor="t"/>
          <a:lstStyle/>
          <a:p>
            <a:pPr indent="0" marL="0">
              <a:buNone/>
            </a:pPr>
            <a:r>
              <a:rPr lang="en-US" sz="1500" b="1" dirty="0">
                <a:solidFill>
                  <a:schemeClr val="tx1"/>
                </a:solidFill>
              </a:rPr>
              <a:t>Tarjeta del turno</a:t>
            </a:r>
            <a:endParaRPr lang="en-US" sz="1500" dirty="0"/>
          </a:p>
        </p:txBody>
      </p:sp>
      <p:sp>
        <p:nvSpPr>
          <p:cNvPr id="30" name="Text 27"/>
          <p:cNvSpPr txBox="1"/>
          <p:nvPr/>
        </p:nvSpPr>
        <p:spPr>
          <a:xfrm>
            <a:off x="9098280" y="4453128"/>
            <a:ext cx="2560320" cy="548640"/>
          </a:xfrm>
          <a:prstGeom prst="rect">
            <a:avLst/>
          </a:prstGeom>
          <a:noFill/>
          <a:ln/>
        </p:spPr>
        <p:txBody>
          <a:bodyPr wrap="square" lIns="0" tIns="0" rIns="0" bIns="0" rtlCol="0" anchor="t"/>
          <a:lstStyle/>
          <a:p>
            <a:pPr indent="0" marL="0">
              <a:buNone/>
            </a:pPr>
            <a:r>
              <a:rPr lang="en-US" sz="1250" dirty="0">
                <a:solidFill>
                  <a:srgbClr val="475A75"/>
                </a:solidFill>
              </a:rPr>
              <a:t>archivos tocados, +/−, ↶ Deshacer y ✦ Revisar</a:t>
            </a:r>
            <a:endParaRPr lang="en-US" sz="1250" dirty="0"/>
          </a:p>
        </p:txBody>
      </p:sp>
      <p:sp>
        <p:nvSpPr>
          <p:cNvPr id="31" name="leyenda 5"/>
          <p:cNvSpPr/>
          <p:nvPr/>
        </p:nvSpPr>
        <p:spPr>
          <a:xfrm>
            <a:off x="8549640" y="5120640"/>
            <a:ext cx="384048" cy="384048"/>
          </a:xfrm>
          <a:prstGeom prst="ellipse">
            <a:avLst/>
          </a:prstGeom>
          <a:solidFill>
            <a:srgbClr val="6F5CFF"/>
          </a:solidFill>
          <a:ln/>
        </p:spPr>
      </p:sp>
      <p:sp>
        <p:nvSpPr>
          <p:cNvPr id="32" name="Text 29"/>
          <p:cNvSpPr txBox="1"/>
          <p:nvPr/>
        </p:nvSpPr>
        <p:spPr>
          <a:xfrm>
            <a:off x="8549640" y="5120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3" name="Text 30"/>
          <p:cNvSpPr txBox="1"/>
          <p:nvPr/>
        </p:nvSpPr>
        <p:spPr>
          <a:xfrm>
            <a:off x="9098280" y="5084064"/>
            <a:ext cx="2560320" cy="320040"/>
          </a:xfrm>
          <a:prstGeom prst="rect">
            <a:avLst/>
          </a:prstGeom>
          <a:noFill/>
          <a:ln/>
        </p:spPr>
        <p:txBody>
          <a:bodyPr wrap="square" lIns="0" tIns="0" rIns="0" bIns="0" rtlCol="0" anchor="t"/>
          <a:lstStyle/>
          <a:p>
            <a:pPr indent="0" marL="0">
              <a:buNone/>
            </a:pPr>
            <a:r>
              <a:rPr lang="en-US" sz="1500" b="1" dirty="0">
                <a:solidFill>
                  <a:schemeClr val="tx1"/>
                </a:solidFill>
              </a:rPr>
              <a:t>Barra de estado</a:t>
            </a:r>
            <a:endParaRPr lang="en-US" sz="1500" dirty="0"/>
          </a:p>
        </p:txBody>
      </p:sp>
      <p:sp>
        <p:nvSpPr>
          <p:cNvPr id="34" name="Text 31"/>
          <p:cNvSpPr txBox="1"/>
          <p:nvPr/>
        </p:nvSpPr>
        <p:spPr>
          <a:xfrm>
            <a:off x="9098280" y="5413248"/>
            <a:ext cx="2560320" cy="548640"/>
          </a:xfrm>
          <a:prstGeom prst="rect">
            <a:avLst/>
          </a:prstGeom>
          <a:noFill/>
          <a:ln/>
        </p:spPr>
        <p:txBody>
          <a:bodyPr wrap="square" lIns="0" tIns="0" rIns="0" bIns="0" rtlCol="0" anchor="t"/>
          <a:lstStyle/>
          <a:p>
            <a:pPr indent="0" marL="0">
              <a:buNone/>
            </a:pPr>
            <a:r>
              <a:rPr lang="en-US" sz="1250" dirty="0">
                <a:solidFill>
                  <a:srgbClr val="475A75"/>
                </a:solidFill>
              </a:rPr>
              <a:t>rama, problemas, agente y modelo</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Frente a opencode: lo que pasa alrededor del agente</a:t>
            </a:r>
            <a:endParaRPr lang="en-US" sz="3200" dirty="0"/>
          </a:p>
        </p:txBody>
      </p:sp>
      <p:graphicFrame>
        <p:nvGraphicFramePr>
          <p:cNvPr id="8" name="tabla opencode"/>
          <p:cNvGraphicFramePr>
            <a:graphicFrameLocks noGrp="1"/>
          </p:cNvGraphicFramePr>
          <p:nvPr>
            <p:extLst>
              <p:ext uri="{D42A27DB-BD31-4B8C-83A1-F6EECF244321}">
                <p14:modId xmlns:p14="http://schemas.microsoft.com/office/powerpoint/2010/main" val="1579011935"/>
              </p:ext>
            </p:extLst>
          </p:nvPr>
        </p:nvGraphicFramePr>
        <p:xfrm>
          <a:off x="548640" y="1234440"/>
          <a:ext cx="6949440" cy="914400"/>
        </p:xfrm>
        <a:graphic>
          <a:graphicData uri="http://schemas.openxmlformats.org/drawingml/2006/table">
            <a:tbl>
              <a:tblPr/>
              <a:tblGrid>
                <a:gridCol w="3931920"/>
                <a:gridCol w="1371600"/>
                <a:gridCol w="1645920"/>
              </a:tblGrid>
              <a:tr h="475488">
                <a:tc>
                  <a:txBody>
                    <a:bodyPr/>
                    <a:lstStyle/>
                    <a:p>
                      <a:pPr algn="ctr" indent="0" marL="0">
                        <a:buNone/>
                      </a:pP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opencode</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PublicCode</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r>
              <a:tr h="475488">
                <a:tc>
                  <a:txBody>
                    <a:bodyPr/>
                    <a:lstStyle/>
                    <a:p>
                      <a:pPr indent="0" marL="0">
                        <a:buNone/>
                      </a:pPr>
                      <a:r>
                        <a:rPr lang="en-US" sz="1250" dirty="0">
                          <a:solidFill>
                            <a:srgbClr val="0B1B33"/>
                          </a:solidFill>
                        </a:rPr>
                        <a:t>Agente en terminal, modo plan, @archivo, !orden, MCP</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Deshacer</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también en Studio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Editor completo con LSP, git, esquema y terminal</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Studio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Claude Code, Copilot, Gemini y opencode como subagentes en sandbox</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run --backend</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Política impuesta por el motor y auditoría encadenada</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permisos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Tareas con criterio de aceptación, reintentos e integración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pcode flow</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Commit generado, revisión y arreglo con diagnóstico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0B1B33"/>
                          </a:solidFill>
                        </a:rPr>
                        <a:t>Seguir y aprobar desde el móvil</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APK</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bl>
          </a:graphicData>
        </a:graphic>
      </p:graphicFrame>
      <p:sp>
        <p:nvSpPr>
          <p:cNvPr id="4" name="marco tui-aprobacion.png"/>
          <p:cNvSpPr/>
          <p:nvPr/>
        </p:nvSpPr>
        <p:spPr>
          <a:xfrm>
            <a:off x="7946136" y="1271016"/>
            <a:ext cx="3721608" cy="2568880"/>
          </a:xfrm>
          <a:prstGeom prst="roundRect">
            <a:avLst>
              <a:gd name="adj" fmla="val 4271"/>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5" name="Image 0" descr="La TUI pide aprobación antes de un git push">    </p:cNvPr>
          <p:cNvPicPr>
            <a:picLocks noChangeAspect="1"/>
          </p:cNvPicPr>
          <p:nvPr/>
        </p:nvPicPr>
        <p:blipFill>
          <a:blip r:embed="rId1"/>
          <a:stretch>
            <a:fillRect/>
          </a:stretch>
        </p:blipFill>
        <p:spPr>
          <a:xfrm>
            <a:off x="8001000" y="1325880"/>
            <a:ext cx="3611880" cy="2459152"/>
          </a:xfrm>
          <a:prstGeom prst="rect">
            <a:avLst/>
          </a:prstGeom>
        </p:spPr>
      </p:pic>
      <p:sp>
        <p:nvSpPr>
          <p:cNvPr id="6" name="Text 2"/>
          <p:cNvSpPr txBox="1"/>
          <p:nvPr/>
        </p:nvSpPr>
        <p:spPr>
          <a:xfrm>
            <a:off x="8001000" y="4013632"/>
            <a:ext cx="3611880" cy="731520"/>
          </a:xfrm>
          <a:prstGeom prst="rect">
            <a:avLst/>
          </a:prstGeom>
          <a:noFill/>
          <a:ln/>
        </p:spPr>
        <p:txBody>
          <a:bodyPr wrap="square" lIns="0" tIns="0" rIns="0" bIns="0" rtlCol="0" anchor="t"/>
          <a:lstStyle/>
          <a:p>
            <a:pPr indent="0" marL="0">
              <a:buNone/>
            </a:pPr>
            <a:r>
              <a:rPr lang="en-US" sz="1300" dirty="0">
                <a:solidFill>
                  <a:srgbClr val="475A75"/>
                </a:solidFill>
              </a:rPr>
              <a:t>Y en la terminal, igual de cómodo: la TUI pregunta antes de lo destructivo (aquí, un git push).</a:t>
            </a:r>
            <a:endParaRPr lang="en-US" sz="1300" dirty="0"/>
          </a:p>
        </p:txBody>
      </p:sp>
      <p:sp>
        <p:nvSpPr>
          <p:cNvPr id="7" name="píldora /deshacer"/>
          <p:cNvSpPr/>
          <p:nvPr/>
        </p:nvSpPr>
        <p:spPr>
          <a:xfrm>
            <a:off x="8001000" y="5257800"/>
            <a:ext cx="1737360" cy="384048"/>
          </a:xfrm>
          <a:prstGeom prst="roundRect">
            <a:avLst>
              <a:gd name="adj" fmla="val 50000"/>
            </a:avLst>
          </a:prstGeom>
          <a:solidFill>
            <a:srgbClr val="EAF2FD"/>
          </a:solidFill>
          <a:ln/>
        </p:spPr>
      </p:sp>
      <p:sp>
        <p:nvSpPr>
          <p:cNvPr id="8" name="Text 4"/>
          <p:cNvSpPr txBox="1"/>
          <p:nvPr/>
        </p:nvSpPr>
        <p:spPr>
          <a:xfrm>
            <a:off x="8001000" y="5257800"/>
            <a:ext cx="1737360" cy="384048"/>
          </a:xfrm>
          <a:prstGeom prst="rect">
            <a:avLst/>
          </a:prstGeom>
          <a:noFill/>
          <a:ln/>
        </p:spPr>
        <p:txBody>
          <a:bodyPr wrap="square" lIns="0" tIns="0" rIns="0" bIns="0" rtlCol="0" anchor="ctr"/>
          <a:lstStyle/>
          <a:p>
            <a:pPr algn="ctr" indent="0" marL="0">
              <a:buNone/>
            </a:pPr>
            <a:r>
              <a:rPr lang="en-US" sz="1200" b="1" dirty="0">
                <a:solidFill>
                  <a:srgbClr val="0B57D0"/>
                </a:solidFill>
              </a:rPr>
              <a:t>/deshacer</a:t>
            </a:r>
            <a:endParaRPr lang="en-US" sz="1200" dirty="0"/>
          </a:p>
        </p:txBody>
      </p:sp>
      <p:sp>
        <p:nvSpPr>
          <p:cNvPr id="9" name="píldora /recuerda"/>
          <p:cNvSpPr/>
          <p:nvPr/>
        </p:nvSpPr>
        <p:spPr>
          <a:xfrm>
            <a:off x="9875520" y="5257800"/>
            <a:ext cx="1737360" cy="384048"/>
          </a:xfrm>
          <a:prstGeom prst="roundRect">
            <a:avLst>
              <a:gd name="adj" fmla="val 50000"/>
            </a:avLst>
          </a:prstGeom>
          <a:solidFill>
            <a:srgbClr val="EAF2FD"/>
          </a:solidFill>
          <a:ln/>
        </p:spPr>
      </p:sp>
      <p:sp>
        <p:nvSpPr>
          <p:cNvPr id="10" name="Text 6"/>
          <p:cNvSpPr txBox="1"/>
          <p:nvPr/>
        </p:nvSpPr>
        <p:spPr>
          <a:xfrm>
            <a:off x="9875520" y="5257800"/>
            <a:ext cx="1737360" cy="384048"/>
          </a:xfrm>
          <a:prstGeom prst="rect">
            <a:avLst/>
          </a:prstGeom>
          <a:noFill/>
          <a:ln/>
        </p:spPr>
        <p:txBody>
          <a:bodyPr wrap="square" lIns="0" tIns="0" rIns="0" bIns="0" rtlCol="0" anchor="ctr"/>
          <a:lstStyle/>
          <a:p>
            <a:pPr algn="ctr" indent="0" marL="0">
              <a:buNone/>
            </a:pPr>
            <a:r>
              <a:rPr lang="en-US" sz="1200" b="1" dirty="0">
                <a:solidFill>
                  <a:srgbClr val="0B57D0"/>
                </a:solidFill>
              </a:rPr>
              <a:t>/recuerda</a:t>
            </a:r>
            <a:endParaRPr lang="en-US" sz="1200" dirty="0"/>
          </a:p>
        </p:txBody>
      </p:sp>
      <p:sp>
        <p:nvSpPr>
          <p:cNvPr id="11" name="píldora @archivo"/>
          <p:cNvSpPr/>
          <p:nvPr/>
        </p:nvSpPr>
        <p:spPr>
          <a:xfrm>
            <a:off x="8001000" y="5760720"/>
            <a:ext cx="1737360" cy="384048"/>
          </a:xfrm>
          <a:prstGeom prst="roundRect">
            <a:avLst>
              <a:gd name="adj" fmla="val 50000"/>
            </a:avLst>
          </a:prstGeom>
          <a:solidFill>
            <a:srgbClr val="EAF2FD"/>
          </a:solidFill>
          <a:ln/>
        </p:spPr>
      </p:sp>
      <p:sp>
        <p:nvSpPr>
          <p:cNvPr id="12" name="Text 8"/>
          <p:cNvSpPr txBox="1"/>
          <p:nvPr/>
        </p:nvSpPr>
        <p:spPr>
          <a:xfrm>
            <a:off x="8001000" y="5760720"/>
            <a:ext cx="1737360" cy="384048"/>
          </a:xfrm>
          <a:prstGeom prst="rect">
            <a:avLst/>
          </a:prstGeom>
          <a:noFill/>
          <a:ln/>
        </p:spPr>
        <p:txBody>
          <a:bodyPr wrap="square" lIns="0" tIns="0" rIns="0" bIns="0" rtlCol="0" anchor="ctr"/>
          <a:lstStyle/>
          <a:p>
            <a:pPr algn="ctr" indent="0" marL="0">
              <a:buNone/>
            </a:pPr>
            <a:r>
              <a:rPr lang="en-US" sz="1200" b="1" dirty="0">
                <a:solidFill>
                  <a:srgbClr val="0B57D0"/>
                </a:solidFill>
              </a:rPr>
              <a:t>@archivo</a:t>
            </a:r>
            <a:endParaRPr lang="en-US" sz="1200" dirty="0"/>
          </a:p>
        </p:txBody>
      </p:sp>
      <p:sp>
        <p:nvSpPr>
          <p:cNvPr id="13" name="píldora Mayús+Tab plan"/>
          <p:cNvSpPr/>
          <p:nvPr/>
        </p:nvSpPr>
        <p:spPr>
          <a:xfrm>
            <a:off x="9875520" y="5760720"/>
            <a:ext cx="1737360" cy="384048"/>
          </a:xfrm>
          <a:prstGeom prst="roundRect">
            <a:avLst>
              <a:gd name="adj" fmla="val 50000"/>
            </a:avLst>
          </a:prstGeom>
          <a:solidFill>
            <a:srgbClr val="EAF2FD"/>
          </a:solidFill>
          <a:ln/>
        </p:spPr>
      </p:sp>
      <p:sp>
        <p:nvSpPr>
          <p:cNvPr id="14" name="Text 10"/>
          <p:cNvSpPr txBox="1"/>
          <p:nvPr/>
        </p:nvSpPr>
        <p:spPr>
          <a:xfrm>
            <a:off x="9875520" y="5760720"/>
            <a:ext cx="1737360" cy="384048"/>
          </a:xfrm>
          <a:prstGeom prst="rect">
            <a:avLst/>
          </a:prstGeom>
          <a:noFill/>
          <a:ln/>
        </p:spPr>
        <p:txBody>
          <a:bodyPr wrap="square" lIns="0" tIns="0" rIns="0" bIns="0" rtlCol="0" anchor="ctr"/>
          <a:lstStyle/>
          <a:p>
            <a:pPr algn="ctr" indent="0" marL="0">
              <a:buNone/>
            </a:pPr>
            <a:r>
              <a:rPr lang="en-US" sz="1200" b="1" dirty="0">
                <a:solidFill>
                  <a:srgbClr val="0B57D0"/>
                </a:solidFill>
              </a:rPr>
              <a:t>Mayús+Tab plan</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8229600" cy="457200"/>
          </a:xfrm>
          <a:prstGeom prst="rect">
            <a:avLst/>
          </a:prstGeom>
          <a:noFill/>
          <a:ln/>
        </p:spPr>
        <p:txBody>
          <a:bodyPr wrap="square" rtlCol="0"/>
          <a:lstStyle/>
          <a:p>
            <a:pPr indent="0" marL="0">
              <a:buNone/>
            </a:pPr>
            <a:r>
              <a:rPr lang="en-US" sz="1600" b="1" spc="300" kern="0" dirty="0">
                <a:solidFill>
                  <a:schemeClr val="accent3"/>
                </a:solidFill>
              </a:rPr>
              <a:t>FUNCIONES EXTRA</a:t>
            </a:r>
            <a:endParaRPr lang="en-US" sz="1600" dirty="0"/>
          </a:p>
        </p:txBody>
      </p:sp>
      <p:sp>
        <p:nvSpPr>
          <p:cNvPr id="3" name="Text 0"/>
          <p:cNvSpPr/>
          <p:nvPr>
            <p:ph idx="101" type="title" hasCustomPrompt="1"/>
          </p:nvPr>
        </p:nvSpPr>
        <p:spPr>
          <a:xfrm>
            <a:off x="731520" y="2606040"/>
            <a:ext cx="10515600" cy="1188720"/>
          </a:xfrm>
          <a:prstGeom prst="rect">
            <a:avLst/>
          </a:prstGeom>
          <a:noFill/>
          <a:ln/>
        </p:spPr>
        <p:txBody>
          <a:bodyPr wrap="square" rtlCol="0"/>
          <a:lstStyle/>
          <a:p>
            <a:pPr algn="l" indent="0" marL="0">
              <a:buNone/>
            </a:pPr>
            <a:r>
              <a:rPr lang="en-US" sz="4400" b="1" dirty="0">
                <a:solidFill>
                  <a:schemeClr val="bg1"/>
                </a:solidFill>
              </a:rPr>
              <a:t>Lo que no tiene ningún otro</a:t>
            </a:r>
            <a:endParaRPr lang="en-US" sz="4400" dirty="0"/>
          </a:p>
        </p:txBody>
      </p:sp>
      <p:sp>
        <p:nvSpPr>
          <p:cNvPr id="4" name="Text 0"/>
          <p:cNvSpPr/>
          <p:nvPr>
            <p:ph idx="102" type="body" hasCustomPrompt="1"/>
          </p:nvPr>
        </p:nvSpPr>
        <p:spPr>
          <a:xfrm>
            <a:off x="731520" y="3840480"/>
            <a:ext cx="9601200" cy="914400"/>
          </a:xfrm>
          <a:prstGeom prst="rect">
            <a:avLst/>
          </a:prstGeom>
          <a:noFill/>
          <a:ln/>
        </p:spPr>
        <p:txBody>
          <a:bodyPr wrap="square" rtlCol="0"/>
          <a:lstStyle/>
          <a:p>
            <a:pPr indent="0" marL="0">
              <a:buNone/>
            </a:pPr>
            <a:r>
              <a:rPr lang="en-US" sz="1800" dirty="0">
                <a:solidFill>
                  <a:srgbClr val="CFE0FB"/>
                </a:solidFill>
              </a:rPr>
              <a:t>Cada función ✦ sale de un paper concreto de ACL o EMNLP 2026 sobre agentes de código.</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Asistente ✦: acciones de un clic con el contexto justo</a:t>
            </a:r>
            <a:endParaRPr lang="en-US" sz="3200" dirty="0"/>
          </a:p>
        </p:txBody>
      </p:sp>
      <p:sp>
        <p:nvSpPr>
          <p:cNvPr id="3" name="asistente Generar el commit"/>
          <p:cNvSpPr/>
          <p:nvPr/>
        </p:nvSpPr>
        <p:spPr>
          <a:xfrm>
            <a:off x="548640" y="128016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4" name="icono FiGitCommit"/>
          <p:cNvSpPr/>
          <p:nvPr/>
        </p:nvSpPr>
        <p:spPr>
          <a:xfrm>
            <a:off x="822960" y="1554480"/>
            <a:ext cx="640080" cy="640080"/>
          </a:xfrm>
          <a:prstGeom prst="ellipse">
            <a:avLst/>
          </a:prstGeom>
          <a:solidFill>
            <a:srgbClr val="0B57D0"/>
          </a:solidFill>
          <a:ln/>
        </p:spPr>
      </p:sp>
      <p:pic>
        <p:nvPicPr>
          <p:cNvPr id="5" name="Image 0" descr="FiGitCommit">    </p:cNvPr>
          <p:cNvPicPr>
            <a:picLocks noChangeAspect="1"/>
          </p:cNvPicPr>
          <p:nvPr/>
        </p:nvPicPr>
        <p:blipFill>
          <a:blip r:embed="rId1"/>
          <a:stretch>
            <a:fillRect/>
          </a:stretch>
        </p:blipFill>
        <p:spPr>
          <a:xfrm>
            <a:off x="976579" y="1708099"/>
            <a:ext cx="332842" cy="332842"/>
          </a:xfrm>
          <a:prstGeom prst="rect">
            <a:avLst/>
          </a:prstGeom>
        </p:spPr>
      </p:pic>
      <p:sp>
        <p:nvSpPr>
          <p:cNvPr id="6" name="Text 3"/>
          <p:cNvSpPr txBox="1"/>
          <p:nvPr/>
        </p:nvSpPr>
        <p:spPr>
          <a:xfrm>
            <a:off x="1645920" y="1664208"/>
            <a:ext cx="2286000" cy="411480"/>
          </a:xfrm>
          <a:prstGeom prst="rect">
            <a:avLst/>
          </a:prstGeom>
          <a:noFill/>
          <a:ln/>
        </p:spPr>
        <p:txBody>
          <a:bodyPr wrap="square" lIns="0" tIns="0" rIns="0" bIns="0" rtlCol="0" anchor="t"/>
          <a:lstStyle/>
          <a:p>
            <a:pPr indent="0" marL="0">
              <a:buNone/>
            </a:pPr>
            <a:r>
              <a:rPr lang="en-US" sz="1700" b="1" dirty="0">
                <a:solidFill>
                  <a:schemeClr val="tx1"/>
                </a:solidFill>
              </a:rPr>
              <a:t>Generar el commit</a:t>
            </a:r>
            <a:endParaRPr lang="en-US" sz="1700" dirty="0"/>
          </a:p>
        </p:txBody>
      </p:sp>
      <p:sp>
        <p:nvSpPr>
          <p:cNvPr id="7" name="Text 4"/>
          <p:cNvSpPr txBox="1"/>
          <p:nvPr/>
        </p:nvSpPr>
        <p:spPr>
          <a:xfrm>
            <a:off x="822960" y="2331720"/>
            <a:ext cx="3017520" cy="685800"/>
          </a:xfrm>
          <a:prstGeom prst="rect">
            <a:avLst/>
          </a:prstGeom>
          <a:noFill/>
          <a:ln/>
        </p:spPr>
        <p:txBody>
          <a:bodyPr wrap="square" lIns="0" tIns="0" rIns="0" bIns="0" rtlCol="0" anchor="t"/>
          <a:lstStyle/>
          <a:p>
            <a:pPr indent="0" marL="0">
              <a:buNone/>
            </a:pPr>
            <a:r>
              <a:rPr lang="en-US" sz="1300" dirty="0">
                <a:solidFill>
                  <a:srgbClr val="475A75"/>
                </a:solidFill>
              </a:rPr>
              <a:t>Resumen por archivo, funciones tocadas, tu estilo y el diff</a:t>
            </a:r>
            <a:endParaRPr lang="en-US" sz="1300" dirty="0"/>
          </a:p>
        </p:txBody>
      </p:sp>
      <p:sp>
        <p:nvSpPr>
          <p:cNvPr id="8" name="píldora HierDiff"/>
          <p:cNvSpPr/>
          <p:nvPr/>
        </p:nvSpPr>
        <p:spPr>
          <a:xfrm>
            <a:off x="822960" y="3017520"/>
            <a:ext cx="1371600" cy="310896"/>
          </a:xfrm>
          <a:prstGeom prst="roundRect">
            <a:avLst>
              <a:gd name="adj" fmla="val 50000"/>
            </a:avLst>
          </a:prstGeom>
          <a:solidFill>
            <a:srgbClr val="FFFFFF"/>
          </a:solidFill>
          <a:ln/>
        </p:spPr>
      </p:sp>
      <p:sp>
        <p:nvSpPr>
          <p:cNvPr id="9" name="Text 6"/>
          <p:cNvSpPr txBox="1"/>
          <p:nvPr/>
        </p:nvSpPr>
        <p:spPr>
          <a:xfrm>
            <a:off x="822960" y="301752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HierDiff</a:t>
            </a:r>
            <a:endParaRPr lang="en-US" sz="1050" dirty="0"/>
          </a:p>
        </p:txBody>
      </p:sp>
      <p:sp>
        <p:nvSpPr>
          <p:cNvPr id="10" name="asistente Revisar los cambios"/>
          <p:cNvSpPr/>
          <p:nvPr/>
        </p:nvSpPr>
        <p:spPr>
          <a:xfrm>
            <a:off x="4297680" y="128016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11" name="icono FiEye"/>
          <p:cNvSpPr/>
          <p:nvPr/>
        </p:nvSpPr>
        <p:spPr>
          <a:xfrm>
            <a:off x="4572000" y="1554480"/>
            <a:ext cx="640080" cy="640080"/>
          </a:xfrm>
          <a:prstGeom prst="ellipse">
            <a:avLst/>
          </a:prstGeom>
          <a:solidFill>
            <a:srgbClr val="6F5CFF"/>
          </a:solidFill>
          <a:ln/>
        </p:spPr>
      </p:sp>
      <p:pic>
        <p:nvPicPr>
          <p:cNvPr id="12" name="Image 1" descr="FiEye">    </p:cNvPr>
          <p:cNvPicPr>
            <a:picLocks noChangeAspect="1"/>
          </p:cNvPicPr>
          <p:nvPr/>
        </p:nvPicPr>
        <p:blipFill>
          <a:blip r:embed="rId2"/>
          <a:stretch>
            <a:fillRect/>
          </a:stretch>
        </p:blipFill>
        <p:spPr>
          <a:xfrm>
            <a:off x="4725619" y="1708099"/>
            <a:ext cx="332842" cy="332842"/>
          </a:xfrm>
          <a:prstGeom prst="rect">
            <a:avLst/>
          </a:prstGeom>
        </p:spPr>
      </p:pic>
      <p:sp>
        <p:nvSpPr>
          <p:cNvPr id="13" name="Text 9"/>
          <p:cNvSpPr txBox="1"/>
          <p:nvPr/>
        </p:nvSpPr>
        <p:spPr>
          <a:xfrm>
            <a:off x="5394960" y="1664208"/>
            <a:ext cx="2286000" cy="411480"/>
          </a:xfrm>
          <a:prstGeom prst="rect">
            <a:avLst/>
          </a:prstGeom>
          <a:noFill/>
          <a:ln/>
        </p:spPr>
        <p:txBody>
          <a:bodyPr wrap="square" lIns="0" tIns="0" rIns="0" bIns="0" rtlCol="0" anchor="t"/>
          <a:lstStyle/>
          <a:p>
            <a:pPr indent="0" marL="0">
              <a:buNone/>
            </a:pPr>
            <a:r>
              <a:rPr lang="en-US" sz="1700" b="1" dirty="0">
                <a:solidFill>
                  <a:schemeClr val="tx1"/>
                </a:solidFill>
              </a:rPr>
              <a:t>Revisar los cambios</a:t>
            </a:r>
            <a:endParaRPr lang="en-US" sz="1700" dirty="0"/>
          </a:p>
        </p:txBody>
      </p:sp>
      <p:sp>
        <p:nvSpPr>
          <p:cNvPr id="14" name="Text 10"/>
          <p:cNvSpPr txBox="1"/>
          <p:nvPr/>
        </p:nvSpPr>
        <p:spPr>
          <a:xfrm>
            <a:off x="4572000" y="2331720"/>
            <a:ext cx="3017520" cy="685800"/>
          </a:xfrm>
          <a:prstGeom prst="rect">
            <a:avLst/>
          </a:prstGeom>
          <a:noFill/>
          <a:ln/>
        </p:spPr>
        <p:txBody>
          <a:bodyPr wrap="square" lIns="0" tIns="0" rIns="0" bIns="0" rtlCol="0" anchor="t"/>
          <a:lstStyle/>
          <a:p>
            <a:pPr indent="0" marL="0">
              <a:buNone/>
            </a:pPr>
            <a:r>
              <a:rPr lang="en-US" sz="1300" dirty="0">
                <a:solidFill>
                  <a:srgbClr val="475A75"/>
                </a:solidFill>
              </a:rPr>
              <a:t>Errores, alcance, mantenibilidad, tests y seguridad, con veredicto</a:t>
            </a:r>
            <a:endParaRPr lang="en-US" sz="1300" dirty="0"/>
          </a:p>
        </p:txBody>
      </p:sp>
      <p:sp>
        <p:nvSpPr>
          <p:cNvPr id="15" name="píldora OmniCode"/>
          <p:cNvSpPr/>
          <p:nvPr/>
        </p:nvSpPr>
        <p:spPr>
          <a:xfrm>
            <a:off x="4572000" y="3017520"/>
            <a:ext cx="1371600" cy="310896"/>
          </a:xfrm>
          <a:prstGeom prst="roundRect">
            <a:avLst>
              <a:gd name="adj" fmla="val 50000"/>
            </a:avLst>
          </a:prstGeom>
          <a:solidFill>
            <a:srgbClr val="FFFFFF"/>
          </a:solidFill>
          <a:ln/>
        </p:spPr>
      </p:sp>
      <p:sp>
        <p:nvSpPr>
          <p:cNvPr id="16" name="Text 12"/>
          <p:cNvSpPr txBox="1"/>
          <p:nvPr/>
        </p:nvSpPr>
        <p:spPr>
          <a:xfrm>
            <a:off x="4572000" y="301752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OmniCode</a:t>
            </a:r>
            <a:endParaRPr lang="en-US" sz="1050" dirty="0"/>
          </a:p>
        </p:txBody>
      </p:sp>
      <p:sp>
        <p:nvSpPr>
          <p:cNvPr id="17" name="asistente Arreglar"/>
          <p:cNvSpPr/>
          <p:nvPr/>
        </p:nvSpPr>
        <p:spPr>
          <a:xfrm>
            <a:off x="8046720" y="128016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18" name="icono FiTool"/>
          <p:cNvSpPr/>
          <p:nvPr/>
        </p:nvSpPr>
        <p:spPr>
          <a:xfrm>
            <a:off x="8321040" y="1554480"/>
            <a:ext cx="640080" cy="640080"/>
          </a:xfrm>
          <a:prstGeom prst="ellipse">
            <a:avLst/>
          </a:prstGeom>
          <a:solidFill>
            <a:srgbClr val="0B57D0"/>
          </a:solidFill>
          <a:ln/>
        </p:spPr>
      </p:sp>
      <p:pic>
        <p:nvPicPr>
          <p:cNvPr id="19" name="Image 2" descr="FiTool">    </p:cNvPr>
          <p:cNvPicPr>
            <a:picLocks noChangeAspect="1"/>
          </p:cNvPicPr>
          <p:nvPr/>
        </p:nvPicPr>
        <p:blipFill>
          <a:blip r:embed="rId3"/>
          <a:stretch>
            <a:fillRect/>
          </a:stretch>
        </p:blipFill>
        <p:spPr>
          <a:xfrm>
            <a:off x="8474659" y="1708099"/>
            <a:ext cx="332842" cy="332842"/>
          </a:xfrm>
          <a:prstGeom prst="rect">
            <a:avLst/>
          </a:prstGeom>
        </p:spPr>
      </p:pic>
      <p:sp>
        <p:nvSpPr>
          <p:cNvPr id="20" name="Text 15"/>
          <p:cNvSpPr txBox="1"/>
          <p:nvPr/>
        </p:nvSpPr>
        <p:spPr>
          <a:xfrm>
            <a:off x="9144000" y="1664208"/>
            <a:ext cx="2286000" cy="411480"/>
          </a:xfrm>
          <a:prstGeom prst="rect">
            <a:avLst/>
          </a:prstGeom>
          <a:noFill/>
          <a:ln/>
        </p:spPr>
        <p:txBody>
          <a:bodyPr wrap="square" lIns="0" tIns="0" rIns="0" bIns="0" rtlCol="0" anchor="t"/>
          <a:lstStyle/>
          <a:p>
            <a:pPr indent="0" marL="0">
              <a:buNone/>
            </a:pPr>
            <a:r>
              <a:rPr lang="en-US" sz="1700" b="1" dirty="0">
                <a:solidFill>
                  <a:schemeClr val="tx1"/>
                </a:solidFill>
              </a:rPr>
              <a:t>Arreglar</a:t>
            </a:r>
            <a:endParaRPr lang="en-US" sz="1700" dirty="0"/>
          </a:p>
        </p:txBody>
      </p:sp>
      <p:sp>
        <p:nvSpPr>
          <p:cNvPr id="21" name="Text 16"/>
          <p:cNvSpPr txBox="1"/>
          <p:nvPr/>
        </p:nvSpPr>
        <p:spPr>
          <a:xfrm>
            <a:off x="8321040" y="2331720"/>
            <a:ext cx="3017520" cy="685800"/>
          </a:xfrm>
          <a:prstGeom prst="rect">
            <a:avLst/>
          </a:prstGeom>
          <a:noFill/>
          <a:ln/>
        </p:spPr>
        <p:txBody>
          <a:bodyPr wrap="square" lIns="0" tIns="0" rIns="0" bIns="0" rtlCol="0" anchor="t"/>
          <a:lstStyle/>
          <a:p>
            <a:pPr indent="0" marL="0">
              <a:buNone/>
            </a:pPr>
            <a:r>
              <a:rPr lang="en-US" sz="1300" dirty="0">
                <a:solidFill>
                  <a:srgbClr val="475A75"/>
                </a:solidFill>
              </a:rPr>
              <a:t>Desde Problemas, el hover o una orden que falla, con símbolo y código</a:t>
            </a:r>
            <a:endParaRPr lang="en-US" sz="1300" dirty="0"/>
          </a:p>
        </p:txBody>
      </p:sp>
      <p:sp>
        <p:nvSpPr>
          <p:cNvPr id="22" name="píldora SHERLOC"/>
          <p:cNvSpPr/>
          <p:nvPr/>
        </p:nvSpPr>
        <p:spPr>
          <a:xfrm>
            <a:off x="8321040" y="3017520"/>
            <a:ext cx="1371600" cy="310896"/>
          </a:xfrm>
          <a:prstGeom prst="roundRect">
            <a:avLst>
              <a:gd name="adj" fmla="val 50000"/>
            </a:avLst>
          </a:prstGeom>
          <a:solidFill>
            <a:srgbClr val="FFFFFF"/>
          </a:solidFill>
          <a:ln/>
        </p:spPr>
      </p:sp>
      <p:sp>
        <p:nvSpPr>
          <p:cNvPr id="23" name="Text 18"/>
          <p:cNvSpPr txBox="1"/>
          <p:nvPr/>
        </p:nvSpPr>
        <p:spPr>
          <a:xfrm>
            <a:off x="8321040" y="301752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SHERLOC</a:t>
            </a:r>
            <a:endParaRPr lang="en-US" sz="1050" dirty="0"/>
          </a:p>
        </p:txBody>
      </p:sp>
      <p:sp>
        <p:nvSpPr>
          <p:cNvPr id="24" name="asistente Concretar la petición"/>
          <p:cNvSpPr/>
          <p:nvPr/>
        </p:nvSpPr>
        <p:spPr>
          <a:xfrm>
            <a:off x="548640" y="374904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25" name="icono FiTarget"/>
          <p:cNvSpPr/>
          <p:nvPr/>
        </p:nvSpPr>
        <p:spPr>
          <a:xfrm>
            <a:off x="822960" y="4023360"/>
            <a:ext cx="640080" cy="640080"/>
          </a:xfrm>
          <a:prstGeom prst="ellipse">
            <a:avLst/>
          </a:prstGeom>
          <a:solidFill>
            <a:srgbClr val="6F5CFF"/>
          </a:solidFill>
          <a:ln/>
        </p:spPr>
      </p:sp>
      <p:pic>
        <p:nvPicPr>
          <p:cNvPr id="26" name="Image 3" descr="FiTarget">    </p:cNvPr>
          <p:cNvPicPr>
            <a:picLocks noChangeAspect="1"/>
          </p:cNvPicPr>
          <p:nvPr/>
        </p:nvPicPr>
        <p:blipFill>
          <a:blip r:embed="rId4"/>
          <a:stretch>
            <a:fillRect/>
          </a:stretch>
        </p:blipFill>
        <p:spPr>
          <a:xfrm>
            <a:off x="976579" y="4176979"/>
            <a:ext cx="332842" cy="332842"/>
          </a:xfrm>
          <a:prstGeom prst="rect">
            <a:avLst/>
          </a:prstGeom>
        </p:spPr>
      </p:pic>
      <p:sp>
        <p:nvSpPr>
          <p:cNvPr id="27" name="Text 21"/>
          <p:cNvSpPr txBox="1"/>
          <p:nvPr/>
        </p:nvSpPr>
        <p:spPr>
          <a:xfrm>
            <a:off x="1645920" y="4133088"/>
            <a:ext cx="2286000" cy="411480"/>
          </a:xfrm>
          <a:prstGeom prst="rect">
            <a:avLst/>
          </a:prstGeom>
          <a:noFill/>
          <a:ln/>
        </p:spPr>
        <p:txBody>
          <a:bodyPr wrap="square" lIns="0" tIns="0" rIns="0" bIns="0" rtlCol="0" anchor="t"/>
          <a:lstStyle/>
          <a:p>
            <a:pPr indent="0" marL="0">
              <a:buNone/>
            </a:pPr>
            <a:r>
              <a:rPr lang="en-US" sz="1700" b="1" dirty="0">
                <a:solidFill>
                  <a:schemeClr val="tx1"/>
                </a:solidFill>
              </a:rPr>
              <a:t>Concretar la petición</a:t>
            </a:r>
            <a:endParaRPr lang="en-US" sz="1700" dirty="0"/>
          </a:p>
        </p:txBody>
      </p:sp>
      <p:sp>
        <p:nvSpPr>
          <p:cNvPr id="28" name="Text 22"/>
          <p:cNvSpPr txBox="1"/>
          <p:nvPr/>
        </p:nvSpPr>
        <p:spPr>
          <a:xfrm>
            <a:off x="822960" y="4800600"/>
            <a:ext cx="3017520" cy="685800"/>
          </a:xfrm>
          <a:prstGeom prst="rect">
            <a:avLst/>
          </a:prstGeom>
          <a:noFill/>
          <a:ln/>
        </p:spPr>
        <p:txBody>
          <a:bodyPr wrap="square" lIns="0" tIns="0" rIns="0" bIns="0" rtlCol="0" anchor="t"/>
          <a:lstStyle/>
          <a:p>
            <a:pPr indent="0" marL="0">
              <a:buNone/>
            </a:pPr>
            <a:r>
              <a:rPr lang="en-US" sz="1300" dirty="0">
                <a:solidFill>
                  <a:srgbClr val="475A75"/>
                </a:solidFill>
              </a:rPr>
              <a:t>Objetivo, archivos, pasos, criterio de hecho y preguntas</a:t>
            </a:r>
            <a:endParaRPr lang="en-US" sz="1300" dirty="0"/>
          </a:p>
        </p:txBody>
      </p:sp>
      <p:sp>
        <p:nvSpPr>
          <p:cNvPr id="29" name="píldora CodeScout"/>
          <p:cNvSpPr/>
          <p:nvPr/>
        </p:nvSpPr>
        <p:spPr>
          <a:xfrm>
            <a:off x="822960" y="5486400"/>
            <a:ext cx="1371600" cy="310896"/>
          </a:xfrm>
          <a:prstGeom prst="roundRect">
            <a:avLst>
              <a:gd name="adj" fmla="val 50000"/>
            </a:avLst>
          </a:prstGeom>
          <a:solidFill>
            <a:srgbClr val="FFFFFF"/>
          </a:solidFill>
          <a:ln/>
        </p:spPr>
      </p:sp>
      <p:sp>
        <p:nvSpPr>
          <p:cNvPr id="30" name="Text 24"/>
          <p:cNvSpPr txBox="1"/>
          <p:nvPr/>
        </p:nvSpPr>
        <p:spPr>
          <a:xfrm>
            <a:off x="822960" y="548640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CodeScout</a:t>
            </a:r>
            <a:endParaRPr lang="en-US" sz="1050" dirty="0"/>
          </a:p>
        </p:txBody>
      </p:sp>
      <p:sp>
        <p:nvSpPr>
          <p:cNvPr id="31" name="asistente Explicar"/>
          <p:cNvSpPr/>
          <p:nvPr/>
        </p:nvSpPr>
        <p:spPr>
          <a:xfrm>
            <a:off x="4297680" y="374904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32" name="icono FiBookOpen"/>
          <p:cNvSpPr/>
          <p:nvPr/>
        </p:nvSpPr>
        <p:spPr>
          <a:xfrm>
            <a:off x="4572000" y="4023360"/>
            <a:ext cx="640080" cy="640080"/>
          </a:xfrm>
          <a:prstGeom prst="ellipse">
            <a:avLst/>
          </a:prstGeom>
          <a:solidFill>
            <a:srgbClr val="0B57D0"/>
          </a:solidFill>
          <a:ln/>
        </p:spPr>
      </p:sp>
      <p:pic>
        <p:nvPicPr>
          <p:cNvPr id="33" name="Image 4" descr="FiBookOpen">    </p:cNvPr>
          <p:cNvPicPr>
            <a:picLocks noChangeAspect="1"/>
          </p:cNvPicPr>
          <p:nvPr/>
        </p:nvPicPr>
        <p:blipFill>
          <a:blip r:embed="rId5"/>
          <a:stretch>
            <a:fillRect/>
          </a:stretch>
        </p:blipFill>
        <p:spPr>
          <a:xfrm>
            <a:off x="4725619" y="4176979"/>
            <a:ext cx="332842" cy="332842"/>
          </a:xfrm>
          <a:prstGeom prst="rect">
            <a:avLst/>
          </a:prstGeom>
        </p:spPr>
      </p:pic>
      <p:sp>
        <p:nvSpPr>
          <p:cNvPr id="34" name="Text 27"/>
          <p:cNvSpPr txBox="1"/>
          <p:nvPr/>
        </p:nvSpPr>
        <p:spPr>
          <a:xfrm>
            <a:off x="5394960" y="4133088"/>
            <a:ext cx="2286000" cy="411480"/>
          </a:xfrm>
          <a:prstGeom prst="rect">
            <a:avLst/>
          </a:prstGeom>
          <a:noFill/>
          <a:ln/>
        </p:spPr>
        <p:txBody>
          <a:bodyPr wrap="square" lIns="0" tIns="0" rIns="0" bIns="0" rtlCol="0" anchor="t"/>
          <a:lstStyle/>
          <a:p>
            <a:pPr indent="0" marL="0">
              <a:buNone/>
            </a:pPr>
            <a:r>
              <a:rPr lang="en-US" sz="1700" b="1" dirty="0">
                <a:solidFill>
                  <a:schemeClr val="tx1"/>
                </a:solidFill>
              </a:rPr>
              <a:t>Explicar</a:t>
            </a:r>
            <a:endParaRPr lang="en-US" sz="1700" dirty="0"/>
          </a:p>
        </p:txBody>
      </p:sp>
      <p:sp>
        <p:nvSpPr>
          <p:cNvPr id="35" name="Text 28"/>
          <p:cNvSpPr txBox="1"/>
          <p:nvPr/>
        </p:nvSpPr>
        <p:spPr>
          <a:xfrm>
            <a:off x="4572000" y="4800600"/>
            <a:ext cx="3017520" cy="685800"/>
          </a:xfrm>
          <a:prstGeom prst="rect">
            <a:avLst/>
          </a:prstGeom>
          <a:noFill/>
          <a:ln/>
        </p:spPr>
        <p:txBody>
          <a:bodyPr wrap="square" lIns="0" tIns="0" rIns="0" bIns="0" rtlCol="0" anchor="t"/>
          <a:lstStyle/>
          <a:p>
            <a:pPr indent="0" marL="0">
              <a:buNone/>
            </a:pPr>
            <a:r>
              <a:rPr lang="en-US" sz="1300" dirty="0">
                <a:solidFill>
                  <a:srgbClr val="475A75"/>
                </a:solidFill>
              </a:rPr>
              <a:t>El archivo o la selección, con su esquema</a:t>
            </a:r>
            <a:endParaRPr lang="en-US" sz="1300" dirty="0"/>
          </a:p>
        </p:txBody>
      </p:sp>
      <p:sp>
        <p:nvSpPr>
          <p:cNvPr id="36" name="píldora SWE-QA"/>
          <p:cNvSpPr/>
          <p:nvPr/>
        </p:nvSpPr>
        <p:spPr>
          <a:xfrm>
            <a:off x="4572000" y="5486400"/>
            <a:ext cx="1371600" cy="310896"/>
          </a:xfrm>
          <a:prstGeom prst="roundRect">
            <a:avLst>
              <a:gd name="adj" fmla="val 50000"/>
            </a:avLst>
          </a:prstGeom>
          <a:solidFill>
            <a:srgbClr val="FFFFFF"/>
          </a:solidFill>
          <a:ln/>
        </p:spPr>
      </p:sp>
      <p:sp>
        <p:nvSpPr>
          <p:cNvPr id="37" name="Text 30"/>
          <p:cNvSpPr txBox="1"/>
          <p:nvPr/>
        </p:nvSpPr>
        <p:spPr>
          <a:xfrm>
            <a:off x="4572000" y="548640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SWE-QA</a:t>
            </a:r>
            <a:endParaRPr lang="en-US" sz="1050" dirty="0"/>
          </a:p>
        </p:txBody>
      </p:sp>
      <p:sp>
        <p:nvSpPr>
          <p:cNvPr id="38" name="asistente Escribir tests"/>
          <p:cNvSpPr/>
          <p:nvPr/>
        </p:nvSpPr>
        <p:spPr>
          <a:xfrm>
            <a:off x="8046720" y="3749040"/>
            <a:ext cx="3520440" cy="2240280"/>
          </a:xfrm>
          <a:prstGeom prst="roundRect">
            <a:avLst>
              <a:gd name="adj" fmla="val 7347"/>
            </a:avLst>
          </a:prstGeom>
          <a:solidFill>
            <a:schemeClr val="bg2"/>
          </a:solidFill>
          <a:ln/>
          <a:effectLst>
            <a:outerShdw sx="100000" sy="100000" kx="0" ky="0" algn="bl" rotWithShape="0" blurRad="127000" dist="38100" dir="5400000">
              <a:srgbClr val="0B1B33">
                <a:alpha val="16000"/>
              </a:srgbClr>
            </a:outerShdw>
          </a:effectLst>
        </p:spPr>
      </p:sp>
      <p:sp>
        <p:nvSpPr>
          <p:cNvPr id="39" name="icono FiCheckSquare"/>
          <p:cNvSpPr/>
          <p:nvPr/>
        </p:nvSpPr>
        <p:spPr>
          <a:xfrm>
            <a:off x="8321040" y="4023360"/>
            <a:ext cx="640080" cy="640080"/>
          </a:xfrm>
          <a:prstGeom prst="ellipse">
            <a:avLst/>
          </a:prstGeom>
          <a:solidFill>
            <a:srgbClr val="6F5CFF"/>
          </a:solidFill>
          <a:ln/>
        </p:spPr>
      </p:sp>
      <p:pic>
        <p:nvPicPr>
          <p:cNvPr id="40" name="Image 5" descr="FiCheckSquare">    </p:cNvPr>
          <p:cNvPicPr>
            <a:picLocks noChangeAspect="1"/>
          </p:cNvPicPr>
          <p:nvPr/>
        </p:nvPicPr>
        <p:blipFill>
          <a:blip r:embed="rId6"/>
          <a:stretch>
            <a:fillRect/>
          </a:stretch>
        </p:blipFill>
        <p:spPr>
          <a:xfrm>
            <a:off x="8474659" y="4176979"/>
            <a:ext cx="332842" cy="332842"/>
          </a:xfrm>
          <a:prstGeom prst="rect">
            <a:avLst/>
          </a:prstGeom>
        </p:spPr>
      </p:pic>
      <p:sp>
        <p:nvSpPr>
          <p:cNvPr id="41" name="Text 33"/>
          <p:cNvSpPr txBox="1"/>
          <p:nvPr/>
        </p:nvSpPr>
        <p:spPr>
          <a:xfrm>
            <a:off x="9144000" y="4133088"/>
            <a:ext cx="2286000" cy="411480"/>
          </a:xfrm>
          <a:prstGeom prst="rect">
            <a:avLst/>
          </a:prstGeom>
          <a:noFill/>
          <a:ln/>
        </p:spPr>
        <p:txBody>
          <a:bodyPr wrap="square" lIns="0" tIns="0" rIns="0" bIns="0" rtlCol="0" anchor="t"/>
          <a:lstStyle/>
          <a:p>
            <a:pPr indent="0" marL="0">
              <a:buNone/>
            </a:pPr>
            <a:r>
              <a:rPr lang="en-US" sz="1700" b="1" dirty="0">
                <a:solidFill>
                  <a:schemeClr val="tx1"/>
                </a:solidFill>
              </a:rPr>
              <a:t>Escribir tests</a:t>
            </a:r>
            <a:endParaRPr lang="en-US" sz="1700" dirty="0"/>
          </a:p>
        </p:txBody>
      </p:sp>
      <p:sp>
        <p:nvSpPr>
          <p:cNvPr id="42" name="Text 34"/>
          <p:cNvSpPr txBox="1"/>
          <p:nvPr/>
        </p:nvSpPr>
        <p:spPr>
          <a:xfrm>
            <a:off x="8321040" y="4800600"/>
            <a:ext cx="3017520" cy="685800"/>
          </a:xfrm>
          <a:prstGeom prst="rect">
            <a:avLst/>
          </a:prstGeom>
          <a:noFill/>
          <a:ln/>
        </p:spPr>
        <p:txBody>
          <a:bodyPr wrap="square" lIns="0" tIns="0" rIns="0" bIns="0" rtlCol="0" anchor="t"/>
          <a:lstStyle/>
          <a:p>
            <a:pPr indent="0" marL="0">
              <a:buNone/>
            </a:pPr>
            <a:r>
              <a:rPr lang="en-US" sz="1300" dirty="0">
                <a:solidFill>
                  <a:srgbClr val="475A75"/>
                </a:solidFill>
              </a:rPr>
              <a:t>En el estilo y el framework del proyecto, y los ejecuta</a:t>
            </a:r>
            <a:endParaRPr lang="en-US" sz="1300" dirty="0"/>
          </a:p>
        </p:txBody>
      </p:sp>
      <p:sp>
        <p:nvSpPr>
          <p:cNvPr id="43" name="píldora OmniCode"/>
          <p:cNvSpPr/>
          <p:nvPr/>
        </p:nvSpPr>
        <p:spPr>
          <a:xfrm>
            <a:off x="8321040" y="5486400"/>
            <a:ext cx="1371600" cy="310896"/>
          </a:xfrm>
          <a:prstGeom prst="roundRect">
            <a:avLst>
              <a:gd name="adj" fmla="val 50000"/>
            </a:avLst>
          </a:prstGeom>
          <a:solidFill>
            <a:srgbClr val="FFFFFF"/>
          </a:solidFill>
          <a:ln/>
        </p:spPr>
      </p:sp>
      <p:sp>
        <p:nvSpPr>
          <p:cNvPr id="44" name="Text 36"/>
          <p:cNvSpPr txBox="1"/>
          <p:nvPr/>
        </p:nvSpPr>
        <p:spPr>
          <a:xfrm>
            <a:off x="8321040" y="5486400"/>
            <a:ext cx="1371600" cy="310896"/>
          </a:xfrm>
          <a:prstGeom prst="rect">
            <a:avLst/>
          </a:prstGeom>
          <a:noFill/>
          <a:ln/>
        </p:spPr>
        <p:txBody>
          <a:bodyPr wrap="square" lIns="0" tIns="0" rIns="0" bIns="0" rtlCol="0" anchor="ctr"/>
          <a:lstStyle/>
          <a:p>
            <a:pPr algn="ctr" indent="0" marL="0">
              <a:buNone/>
            </a:pPr>
            <a:r>
              <a:rPr lang="en-US" sz="1050" b="1" dirty="0">
                <a:solidFill>
                  <a:srgbClr val="6F5CFF"/>
                </a:solidFill>
              </a:rPr>
              <a:t>OmniCode</a:t>
            </a:r>
            <a:endParaRPr lang="en-US" sz="10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Un turno del agente, de principio a fin</a:t>
            </a:r>
            <a:endParaRPr lang="en-US" sz="3200" dirty="0"/>
          </a:p>
        </p:txBody>
      </p:sp>
      <p:sp>
        <p:nvSpPr>
          <p:cNvPr id="3" name="paso 1"/>
          <p:cNvSpPr/>
          <p:nvPr/>
        </p:nvSpPr>
        <p:spPr>
          <a:xfrm>
            <a:off x="548640"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4" name="Text 2"/>
          <p:cNvSpPr txBox="1"/>
          <p:nvPr/>
        </p:nvSpPr>
        <p:spPr>
          <a:xfrm>
            <a:off x="713232"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1</a:t>
            </a:r>
            <a:endParaRPr lang="en-US" sz="1400" dirty="0"/>
          </a:p>
        </p:txBody>
      </p:sp>
      <p:sp>
        <p:nvSpPr>
          <p:cNvPr id="5" name="icono FiHelpCircle"/>
          <p:cNvSpPr/>
          <p:nvPr/>
        </p:nvSpPr>
        <p:spPr>
          <a:xfrm>
            <a:off x="1065276" y="1828800"/>
            <a:ext cx="685800" cy="685800"/>
          </a:xfrm>
          <a:prstGeom prst="ellipse">
            <a:avLst/>
          </a:prstGeom>
          <a:solidFill>
            <a:srgbClr val="0B57D0"/>
          </a:solidFill>
          <a:ln/>
        </p:spPr>
      </p:sp>
      <p:pic>
        <p:nvPicPr>
          <p:cNvPr id="6" name="Image 0" descr="FiHelpCircle">    </p:cNvPr>
          <p:cNvPicPr>
            <a:picLocks noChangeAspect="1"/>
          </p:cNvPicPr>
          <p:nvPr/>
        </p:nvPicPr>
        <p:blipFill>
          <a:blip r:embed="rId1"/>
          <a:stretch>
            <a:fillRect/>
          </a:stretch>
        </p:blipFill>
        <p:spPr>
          <a:xfrm>
            <a:off x="1229868" y="1993392"/>
            <a:ext cx="356616" cy="356616"/>
          </a:xfrm>
          <a:prstGeom prst="rect">
            <a:avLst/>
          </a:prstGeom>
        </p:spPr>
      </p:pic>
      <p:sp>
        <p:nvSpPr>
          <p:cNvPr id="7" name="Text 4"/>
          <p:cNvSpPr txBox="1"/>
          <p:nvPr/>
        </p:nvSpPr>
        <p:spPr>
          <a:xfrm>
            <a:off x="685800"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Pregunta si hace falta</a:t>
            </a:r>
            <a:endParaRPr lang="en-US" sz="1450" dirty="0"/>
          </a:p>
        </p:txBody>
      </p:sp>
      <p:sp>
        <p:nvSpPr>
          <p:cNvPr id="8" name="Text 5"/>
          <p:cNvSpPr txBox="1"/>
          <p:nvPr/>
        </p:nvSpPr>
        <p:spPr>
          <a:xfrm>
            <a:off x="685800"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 ante una petición ambigua, con opciones</a:t>
            </a:r>
            <a:endParaRPr lang="en-US" sz="1200" dirty="0"/>
          </a:p>
        </p:txBody>
      </p:sp>
      <p:sp>
        <p:nvSpPr>
          <p:cNvPr id="9" name="Text 6"/>
          <p:cNvSpPr txBox="1"/>
          <p:nvPr/>
        </p:nvSpPr>
        <p:spPr>
          <a:xfrm>
            <a:off x="640080"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Ask or Assume?</a:t>
            </a:r>
            <a:endParaRPr lang="en-US" sz="1000" dirty="0"/>
          </a:p>
        </p:txBody>
      </p:sp>
      <p:sp>
        <p:nvSpPr>
          <p:cNvPr id="10" name="flecha 1"/>
          <p:cNvSpPr/>
          <p:nvPr/>
        </p:nvSpPr>
        <p:spPr>
          <a:xfrm>
            <a:off x="2286000" y="2194560"/>
            <a:ext cx="155448" cy="274320"/>
          </a:xfrm>
          <a:prstGeom prst="rightArrow">
            <a:avLst/>
          </a:prstGeom>
          <a:solidFill>
            <a:srgbClr val="6F5CFF"/>
          </a:solidFill>
          <a:ln/>
        </p:spPr>
      </p:sp>
      <p:sp>
        <p:nvSpPr>
          <p:cNvPr id="11" name="paso 2"/>
          <p:cNvSpPr/>
          <p:nvPr/>
        </p:nvSpPr>
        <p:spPr>
          <a:xfrm>
            <a:off x="2459736"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12" name="Text 9"/>
          <p:cNvSpPr txBox="1"/>
          <p:nvPr/>
        </p:nvSpPr>
        <p:spPr>
          <a:xfrm>
            <a:off x="2624328"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2</a:t>
            </a:r>
            <a:endParaRPr lang="en-US" sz="1400" dirty="0"/>
          </a:p>
        </p:txBody>
      </p:sp>
      <p:sp>
        <p:nvSpPr>
          <p:cNvPr id="13" name="icono FiCompass"/>
          <p:cNvSpPr/>
          <p:nvPr/>
        </p:nvSpPr>
        <p:spPr>
          <a:xfrm>
            <a:off x="2976372" y="1828800"/>
            <a:ext cx="685800" cy="685800"/>
          </a:xfrm>
          <a:prstGeom prst="ellipse">
            <a:avLst/>
          </a:prstGeom>
          <a:solidFill>
            <a:srgbClr val="0B57D0"/>
          </a:solidFill>
          <a:ln/>
        </p:spPr>
      </p:sp>
      <p:pic>
        <p:nvPicPr>
          <p:cNvPr id="14" name="Image 1" descr="FiCompass">    </p:cNvPr>
          <p:cNvPicPr>
            <a:picLocks noChangeAspect="1"/>
          </p:cNvPicPr>
          <p:nvPr/>
        </p:nvPicPr>
        <p:blipFill>
          <a:blip r:embed="rId2"/>
          <a:stretch>
            <a:fillRect/>
          </a:stretch>
        </p:blipFill>
        <p:spPr>
          <a:xfrm>
            <a:off x="3140964" y="1993392"/>
            <a:ext cx="356616" cy="356616"/>
          </a:xfrm>
          <a:prstGeom prst="rect">
            <a:avLst/>
          </a:prstGeom>
        </p:spPr>
      </p:pic>
      <p:sp>
        <p:nvSpPr>
          <p:cNvPr id="15" name="Text 11"/>
          <p:cNvSpPr txBox="1"/>
          <p:nvPr/>
        </p:nvSpPr>
        <p:spPr>
          <a:xfrm>
            <a:off x="2596896"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Localiza</a:t>
            </a:r>
            <a:endParaRPr lang="en-US" sz="1450" dirty="0"/>
          </a:p>
        </p:txBody>
      </p:sp>
      <p:sp>
        <p:nvSpPr>
          <p:cNvPr id="16" name="Text 12"/>
          <p:cNvSpPr txBox="1"/>
          <p:nvPr/>
        </p:nvSpPr>
        <p:spPr>
          <a:xfrm>
            <a:off x="2596896"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esquema: símbolos y dónde se definen, sin leer todo</a:t>
            </a:r>
            <a:endParaRPr lang="en-US" sz="1200" dirty="0"/>
          </a:p>
        </p:txBody>
      </p:sp>
      <p:sp>
        <p:nvSpPr>
          <p:cNvPr id="17" name="Text 13"/>
          <p:cNvSpPr txBox="1"/>
          <p:nvPr/>
        </p:nvSpPr>
        <p:spPr>
          <a:xfrm>
            <a:off x="2551176"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RepoNav</a:t>
            </a:r>
            <a:endParaRPr lang="en-US" sz="1000" dirty="0"/>
          </a:p>
        </p:txBody>
      </p:sp>
      <p:sp>
        <p:nvSpPr>
          <p:cNvPr id="18" name="flecha 2"/>
          <p:cNvSpPr/>
          <p:nvPr/>
        </p:nvSpPr>
        <p:spPr>
          <a:xfrm>
            <a:off x="4197096" y="2194560"/>
            <a:ext cx="155448" cy="274320"/>
          </a:xfrm>
          <a:prstGeom prst="rightArrow">
            <a:avLst/>
          </a:prstGeom>
          <a:solidFill>
            <a:srgbClr val="6F5CFF"/>
          </a:solidFill>
          <a:ln/>
        </p:spPr>
      </p:sp>
      <p:sp>
        <p:nvSpPr>
          <p:cNvPr id="19" name="paso 3"/>
          <p:cNvSpPr/>
          <p:nvPr/>
        </p:nvSpPr>
        <p:spPr>
          <a:xfrm>
            <a:off x="4370832"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20" name="Text 16"/>
          <p:cNvSpPr txBox="1"/>
          <p:nvPr/>
        </p:nvSpPr>
        <p:spPr>
          <a:xfrm>
            <a:off x="4535424"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3</a:t>
            </a:r>
            <a:endParaRPr lang="en-US" sz="1400" dirty="0"/>
          </a:p>
        </p:txBody>
      </p:sp>
      <p:sp>
        <p:nvSpPr>
          <p:cNvPr id="21" name="icono FiEdit3"/>
          <p:cNvSpPr/>
          <p:nvPr/>
        </p:nvSpPr>
        <p:spPr>
          <a:xfrm>
            <a:off x="4887468" y="1828800"/>
            <a:ext cx="685800" cy="685800"/>
          </a:xfrm>
          <a:prstGeom prst="ellipse">
            <a:avLst/>
          </a:prstGeom>
          <a:solidFill>
            <a:srgbClr val="0B57D0"/>
          </a:solidFill>
          <a:ln/>
        </p:spPr>
      </p:sp>
      <p:pic>
        <p:nvPicPr>
          <p:cNvPr id="22" name="Image 2" descr="FiEdit3">    </p:cNvPr>
          <p:cNvPicPr>
            <a:picLocks noChangeAspect="1"/>
          </p:cNvPicPr>
          <p:nvPr/>
        </p:nvPicPr>
        <p:blipFill>
          <a:blip r:embed="rId3"/>
          <a:stretch>
            <a:fillRect/>
          </a:stretch>
        </p:blipFill>
        <p:spPr>
          <a:xfrm>
            <a:off x="5052060" y="1993392"/>
            <a:ext cx="356616" cy="356616"/>
          </a:xfrm>
          <a:prstGeom prst="rect">
            <a:avLst/>
          </a:prstGeom>
        </p:spPr>
      </p:pic>
      <p:sp>
        <p:nvSpPr>
          <p:cNvPr id="23" name="Text 18"/>
          <p:cNvSpPr txBox="1"/>
          <p:nvPr/>
        </p:nvSpPr>
        <p:spPr>
          <a:xfrm>
            <a:off x="4507992"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Edita lo mínimo</a:t>
            </a:r>
            <a:endParaRPr lang="en-US" sz="1450" dirty="0"/>
          </a:p>
        </p:txBody>
      </p:sp>
      <p:sp>
        <p:nvSpPr>
          <p:cNvPr id="24" name="Text 19"/>
          <p:cNvSpPr txBox="1"/>
          <p:nvPr/>
        </p:nvSpPr>
        <p:spPr>
          <a:xfrm>
            <a:off x="4507992"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punto de control antes de cada escritura</a:t>
            </a:r>
            <a:endParaRPr lang="en-US" sz="1200" dirty="0"/>
          </a:p>
        </p:txBody>
      </p:sp>
      <p:sp>
        <p:nvSpPr>
          <p:cNvPr id="25" name="Text 20"/>
          <p:cNvSpPr txBox="1"/>
          <p:nvPr/>
        </p:nvSpPr>
        <p:spPr>
          <a:xfrm>
            <a:off x="4462272"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When Models Edit Too Much</a:t>
            </a:r>
            <a:endParaRPr lang="en-US" sz="1000" dirty="0"/>
          </a:p>
        </p:txBody>
      </p:sp>
      <p:sp>
        <p:nvSpPr>
          <p:cNvPr id="26" name="flecha 3"/>
          <p:cNvSpPr/>
          <p:nvPr/>
        </p:nvSpPr>
        <p:spPr>
          <a:xfrm>
            <a:off x="6108192" y="2194560"/>
            <a:ext cx="155448" cy="274320"/>
          </a:xfrm>
          <a:prstGeom prst="rightArrow">
            <a:avLst/>
          </a:prstGeom>
          <a:solidFill>
            <a:srgbClr val="6F5CFF"/>
          </a:solidFill>
          <a:ln/>
        </p:spPr>
      </p:sp>
      <p:sp>
        <p:nvSpPr>
          <p:cNvPr id="27" name="paso 4"/>
          <p:cNvSpPr/>
          <p:nvPr/>
        </p:nvSpPr>
        <p:spPr>
          <a:xfrm>
            <a:off x="6281928"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28" name="Text 23"/>
          <p:cNvSpPr txBox="1"/>
          <p:nvPr/>
        </p:nvSpPr>
        <p:spPr>
          <a:xfrm>
            <a:off x="6446520"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4</a:t>
            </a:r>
            <a:endParaRPr lang="en-US" sz="1400" dirty="0"/>
          </a:p>
        </p:txBody>
      </p:sp>
      <p:sp>
        <p:nvSpPr>
          <p:cNvPr id="29" name="icono FiCheckCircle"/>
          <p:cNvSpPr/>
          <p:nvPr/>
        </p:nvSpPr>
        <p:spPr>
          <a:xfrm>
            <a:off x="6798564" y="1828800"/>
            <a:ext cx="685800" cy="685800"/>
          </a:xfrm>
          <a:prstGeom prst="ellipse">
            <a:avLst/>
          </a:prstGeom>
          <a:solidFill>
            <a:srgbClr val="0B57D0"/>
          </a:solidFill>
          <a:ln/>
        </p:spPr>
      </p:sp>
      <p:pic>
        <p:nvPicPr>
          <p:cNvPr id="30" name="Image 3" descr="FiCheckCircle">    </p:cNvPr>
          <p:cNvPicPr>
            <a:picLocks noChangeAspect="1"/>
          </p:cNvPicPr>
          <p:nvPr/>
        </p:nvPicPr>
        <p:blipFill>
          <a:blip r:embed="rId4"/>
          <a:stretch>
            <a:fillRect/>
          </a:stretch>
        </p:blipFill>
        <p:spPr>
          <a:xfrm>
            <a:off x="6963156" y="1993392"/>
            <a:ext cx="356616" cy="356616"/>
          </a:xfrm>
          <a:prstGeom prst="rect">
            <a:avLst/>
          </a:prstGeom>
        </p:spPr>
      </p:pic>
      <p:sp>
        <p:nvSpPr>
          <p:cNvPr id="31" name="Text 25"/>
          <p:cNvSpPr txBox="1"/>
          <p:nvPr/>
        </p:nvSpPr>
        <p:spPr>
          <a:xfrm>
            <a:off x="6419088"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Comprueba</a:t>
            </a:r>
            <a:endParaRPr lang="en-US" sz="1450" dirty="0"/>
          </a:p>
        </p:txBody>
      </p:sp>
      <p:sp>
        <p:nvSpPr>
          <p:cNvPr id="32" name="Text 26"/>
          <p:cNvSpPr txBox="1"/>
          <p:nvPr/>
        </p:nvSpPr>
        <p:spPr>
          <a:xfrm>
            <a:off x="6419088"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tests o compilación antes de terminar</a:t>
            </a:r>
            <a:endParaRPr lang="en-US" sz="1200" dirty="0"/>
          </a:p>
        </p:txBody>
      </p:sp>
      <p:sp>
        <p:nvSpPr>
          <p:cNvPr id="33" name="Text 27"/>
          <p:cNvSpPr txBox="1"/>
          <p:nvPr/>
        </p:nvSpPr>
        <p:spPr>
          <a:xfrm>
            <a:off x="6373368"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Polished but Unresolved</a:t>
            </a:r>
            <a:endParaRPr lang="en-US" sz="1000" dirty="0"/>
          </a:p>
        </p:txBody>
      </p:sp>
      <p:sp>
        <p:nvSpPr>
          <p:cNvPr id="34" name="flecha 4"/>
          <p:cNvSpPr/>
          <p:nvPr/>
        </p:nvSpPr>
        <p:spPr>
          <a:xfrm>
            <a:off x="8019288" y="2194560"/>
            <a:ext cx="155448" cy="274320"/>
          </a:xfrm>
          <a:prstGeom prst="rightArrow">
            <a:avLst/>
          </a:prstGeom>
          <a:solidFill>
            <a:srgbClr val="6F5CFF"/>
          </a:solidFill>
          <a:ln/>
        </p:spPr>
      </p:sp>
      <p:sp>
        <p:nvSpPr>
          <p:cNvPr id="35" name="paso 5"/>
          <p:cNvSpPr/>
          <p:nvPr/>
        </p:nvSpPr>
        <p:spPr>
          <a:xfrm>
            <a:off x="8193024"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36" name="Text 30"/>
          <p:cNvSpPr txBox="1"/>
          <p:nvPr/>
        </p:nvSpPr>
        <p:spPr>
          <a:xfrm>
            <a:off x="8357616"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5</a:t>
            </a:r>
            <a:endParaRPr lang="en-US" sz="1400" dirty="0"/>
          </a:p>
        </p:txBody>
      </p:sp>
      <p:sp>
        <p:nvSpPr>
          <p:cNvPr id="37" name="icono FiList"/>
          <p:cNvSpPr/>
          <p:nvPr/>
        </p:nvSpPr>
        <p:spPr>
          <a:xfrm>
            <a:off x="8709660" y="1828800"/>
            <a:ext cx="685800" cy="685800"/>
          </a:xfrm>
          <a:prstGeom prst="ellipse">
            <a:avLst/>
          </a:prstGeom>
          <a:solidFill>
            <a:srgbClr val="0B57D0"/>
          </a:solidFill>
          <a:ln/>
        </p:spPr>
      </p:sp>
      <p:pic>
        <p:nvPicPr>
          <p:cNvPr id="38" name="Image 4" descr="FiList">    </p:cNvPr>
          <p:cNvPicPr>
            <a:picLocks noChangeAspect="1"/>
          </p:cNvPicPr>
          <p:nvPr/>
        </p:nvPicPr>
        <p:blipFill>
          <a:blip r:embed="rId5"/>
          <a:stretch>
            <a:fillRect/>
          </a:stretch>
        </p:blipFill>
        <p:spPr>
          <a:xfrm>
            <a:off x="8874252" y="1993392"/>
            <a:ext cx="356616" cy="356616"/>
          </a:xfrm>
          <a:prstGeom prst="rect">
            <a:avLst/>
          </a:prstGeom>
        </p:spPr>
      </p:pic>
      <p:sp>
        <p:nvSpPr>
          <p:cNvPr id="39" name="Text 32"/>
          <p:cNvSpPr txBox="1"/>
          <p:nvPr/>
        </p:nvSpPr>
        <p:spPr>
          <a:xfrm>
            <a:off x="8330184"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Te lo enseña</a:t>
            </a:r>
            <a:endParaRPr lang="en-US" sz="1450" dirty="0"/>
          </a:p>
        </p:txBody>
      </p:sp>
      <p:sp>
        <p:nvSpPr>
          <p:cNvPr id="40" name="Text 33"/>
          <p:cNvSpPr txBox="1"/>
          <p:nvPr/>
        </p:nvSpPr>
        <p:spPr>
          <a:xfrm>
            <a:off x="8330184"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tarjeta con archivos y +/−</a:t>
            </a:r>
            <a:endParaRPr lang="en-US" sz="1200" dirty="0"/>
          </a:p>
        </p:txBody>
      </p:sp>
      <p:sp>
        <p:nvSpPr>
          <p:cNvPr id="41" name="Text 34"/>
          <p:cNvSpPr txBox="1"/>
          <p:nvPr/>
        </p:nvSpPr>
        <p:spPr>
          <a:xfrm>
            <a:off x="8284464"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RECAP</a:t>
            </a:r>
            <a:endParaRPr lang="en-US" sz="1000" dirty="0"/>
          </a:p>
        </p:txBody>
      </p:sp>
      <p:sp>
        <p:nvSpPr>
          <p:cNvPr id="42" name="flecha 5"/>
          <p:cNvSpPr/>
          <p:nvPr/>
        </p:nvSpPr>
        <p:spPr>
          <a:xfrm>
            <a:off x="9930384" y="2194560"/>
            <a:ext cx="155448" cy="274320"/>
          </a:xfrm>
          <a:prstGeom prst="rightArrow">
            <a:avLst/>
          </a:prstGeom>
          <a:solidFill>
            <a:srgbClr val="6F5CFF"/>
          </a:solidFill>
          <a:ln/>
        </p:spPr>
      </p:sp>
      <p:sp>
        <p:nvSpPr>
          <p:cNvPr id="43" name="paso 6"/>
          <p:cNvSpPr/>
          <p:nvPr/>
        </p:nvSpPr>
        <p:spPr>
          <a:xfrm>
            <a:off x="10104120" y="1325880"/>
            <a:ext cx="1719072" cy="3383280"/>
          </a:xfrm>
          <a:prstGeom prst="roundRect">
            <a:avLst>
              <a:gd name="adj" fmla="val 9574"/>
            </a:avLst>
          </a:prstGeom>
          <a:solidFill>
            <a:schemeClr val="bg2"/>
          </a:solidFill>
          <a:ln/>
          <a:effectLst>
            <a:outerShdw sx="100000" sy="100000" kx="0" ky="0" algn="bl" rotWithShape="0" blurRad="127000" dist="38100" dir="5400000">
              <a:srgbClr val="0B1B33">
                <a:alpha val="16000"/>
              </a:srgbClr>
            </a:outerShdw>
          </a:effectLst>
        </p:spPr>
      </p:sp>
      <p:sp>
        <p:nvSpPr>
          <p:cNvPr id="44" name="Text 37"/>
          <p:cNvSpPr txBox="1"/>
          <p:nvPr/>
        </p:nvSpPr>
        <p:spPr>
          <a:xfrm>
            <a:off x="10268712" y="1490472"/>
            <a:ext cx="365760" cy="365760"/>
          </a:xfrm>
          <a:prstGeom prst="rect">
            <a:avLst/>
          </a:prstGeom>
          <a:noFill/>
          <a:ln/>
        </p:spPr>
        <p:txBody>
          <a:bodyPr wrap="square" lIns="0" tIns="0" rIns="0" bIns="0" rtlCol="0" anchor="ctr"/>
          <a:lstStyle/>
          <a:p>
            <a:pPr indent="0" marL="0">
              <a:buNone/>
            </a:pPr>
            <a:r>
              <a:rPr lang="en-US" sz="1400" b="1" dirty="0">
                <a:solidFill>
                  <a:srgbClr val="6F5CFF"/>
                </a:solidFill>
              </a:rPr>
              <a:t>6</a:t>
            </a:r>
            <a:endParaRPr lang="en-US" sz="1400" dirty="0"/>
          </a:p>
        </p:txBody>
      </p:sp>
      <p:sp>
        <p:nvSpPr>
          <p:cNvPr id="45" name="icono FiRotateCcw"/>
          <p:cNvSpPr/>
          <p:nvPr/>
        </p:nvSpPr>
        <p:spPr>
          <a:xfrm>
            <a:off x="10620756" y="1828800"/>
            <a:ext cx="685800" cy="685800"/>
          </a:xfrm>
          <a:prstGeom prst="ellipse">
            <a:avLst/>
          </a:prstGeom>
          <a:solidFill>
            <a:srgbClr val="0B57D0"/>
          </a:solidFill>
          <a:ln/>
        </p:spPr>
      </p:sp>
      <p:pic>
        <p:nvPicPr>
          <p:cNvPr id="46" name="Image 5" descr="FiRotateCcw">    </p:cNvPr>
          <p:cNvPicPr>
            <a:picLocks noChangeAspect="1"/>
          </p:cNvPicPr>
          <p:nvPr/>
        </p:nvPicPr>
        <p:blipFill>
          <a:blip r:embed="rId6"/>
          <a:stretch>
            <a:fillRect/>
          </a:stretch>
        </p:blipFill>
        <p:spPr>
          <a:xfrm>
            <a:off x="10785348" y="1993392"/>
            <a:ext cx="356616" cy="356616"/>
          </a:xfrm>
          <a:prstGeom prst="rect">
            <a:avLst/>
          </a:prstGeom>
        </p:spPr>
      </p:pic>
      <p:sp>
        <p:nvSpPr>
          <p:cNvPr id="47" name="Text 39"/>
          <p:cNvSpPr txBox="1"/>
          <p:nvPr/>
        </p:nvSpPr>
        <p:spPr>
          <a:xfrm>
            <a:off x="10241280" y="2651760"/>
            <a:ext cx="1444752" cy="640080"/>
          </a:xfrm>
          <a:prstGeom prst="rect">
            <a:avLst/>
          </a:prstGeom>
          <a:noFill/>
          <a:ln/>
        </p:spPr>
        <p:txBody>
          <a:bodyPr wrap="square" lIns="0" tIns="0" rIns="0" bIns="0" rtlCol="0" anchor="t"/>
          <a:lstStyle/>
          <a:p>
            <a:pPr algn="ctr" indent="0" marL="0">
              <a:buNone/>
            </a:pPr>
            <a:r>
              <a:rPr lang="en-US" sz="1450" b="1" dirty="0">
                <a:solidFill>
                  <a:schemeClr val="tx1"/>
                </a:solidFill>
              </a:rPr>
              <a:t>Deshaces si quieres</a:t>
            </a:r>
            <a:endParaRPr lang="en-US" sz="1450" dirty="0"/>
          </a:p>
        </p:txBody>
      </p:sp>
      <p:sp>
        <p:nvSpPr>
          <p:cNvPr id="48" name="Text 40"/>
          <p:cNvSpPr txBox="1"/>
          <p:nvPr/>
        </p:nvSpPr>
        <p:spPr>
          <a:xfrm>
            <a:off x="10241280" y="3291840"/>
            <a:ext cx="1444752" cy="868680"/>
          </a:xfrm>
          <a:prstGeom prst="rect">
            <a:avLst/>
          </a:prstGeom>
          <a:noFill/>
          <a:ln/>
        </p:spPr>
        <p:txBody>
          <a:bodyPr wrap="square" lIns="0" tIns="0" rIns="0" bIns="0" rtlCol="0" anchor="t"/>
          <a:lstStyle/>
          <a:p>
            <a:pPr algn="ctr" indent="0" marL="0">
              <a:buNone/>
            </a:pPr>
            <a:r>
              <a:rPr lang="en-US" sz="1200" dirty="0">
                <a:solidFill>
                  <a:srgbClr val="475A75"/>
                </a:solidFill>
              </a:rPr>
              <a:t>↶ el turno entero, ↷ rehacer</a:t>
            </a:r>
            <a:endParaRPr lang="en-US" sz="1200" dirty="0"/>
          </a:p>
        </p:txBody>
      </p:sp>
      <p:sp>
        <p:nvSpPr>
          <p:cNvPr id="49" name="Text 41"/>
          <p:cNvSpPr txBox="1"/>
          <p:nvPr/>
        </p:nvSpPr>
        <p:spPr>
          <a:xfrm>
            <a:off x="10195560" y="4251960"/>
            <a:ext cx="1536192" cy="320040"/>
          </a:xfrm>
          <a:prstGeom prst="rect">
            <a:avLst/>
          </a:prstGeom>
          <a:noFill/>
          <a:ln/>
        </p:spPr>
        <p:txBody>
          <a:bodyPr wrap="square" lIns="0" tIns="0" rIns="0" bIns="0" rtlCol="0" anchor="t"/>
          <a:lstStyle/>
          <a:p>
            <a:pPr algn="ctr" indent="0" marL="0">
              <a:buNone/>
            </a:pPr>
            <a:r>
              <a:rPr lang="en-US" sz="1000" i="1" dirty="0">
                <a:solidFill>
                  <a:srgbClr val="6F5CFF"/>
                </a:solidFill>
              </a:rPr>
              <a:t>How Coding Agents Fail Their Users</a:t>
            </a:r>
            <a:endParaRPr lang="en-US" sz="1000" dirty="0"/>
          </a:p>
        </p:txBody>
      </p:sp>
      <p:sp>
        <p:nvSpPr>
          <p:cNvPr id="50" name="memoria"/>
          <p:cNvSpPr/>
          <p:nvPr/>
        </p:nvSpPr>
        <p:spPr>
          <a:xfrm>
            <a:off x="548640" y="4983480"/>
            <a:ext cx="11091672" cy="1097280"/>
          </a:xfrm>
          <a:prstGeom prst="roundRect">
            <a:avLst>
              <a:gd name="adj" fmla="val 15000"/>
            </a:avLst>
          </a:prstGeom>
          <a:solidFill>
            <a:srgbClr val="0F1D33"/>
          </a:solidFill>
          <a:ln/>
        </p:spPr>
      </p:sp>
      <p:sp>
        <p:nvSpPr>
          <p:cNvPr id="51" name="icono FiDatabase"/>
          <p:cNvSpPr/>
          <p:nvPr/>
        </p:nvSpPr>
        <p:spPr>
          <a:xfrm>
            <a:off x="777240" y="5184648"/>
            <a:ext cx="694944" cy="694944"/>
          </a:xfrm>
          <a:prstGeom prst="ellipse">
            <a:avLst/>
          </a:prstGeom>
          <a:solidFill>
            <a:srgbClr val="6F5CFF"/>
          </a:solidFill>
          <a:ln/>
        </p:spPr>
      </p:sp>
      <p:pic>
        <p:nvPicPr>
          <p:cNvPr id="52" name="Image 6" descr="FiDatabase">    </p:cNvPr>
          <p:cNvPicPr>
            <a:picLocks noChangeAspect="1"/>
          </p:cNvPicPr>
          <p:nvPr/>
        </p:nvPicPr>
        <p:blipFill>
          <a:blip r:embed="rId7"/>
          <a:stretch>
            <a:fillRect/>
          </a:stretch>
        </p:blipFill>
        <p:spPr>
          <a:xfrm>
            <a:off x="944027" y="5351435"/>
            <a:ext cx="361371" cy="361371"/>
          </a:xfrm>
          <a:prstGeom prst="rect">
            <a:avLst/>
          </a:prstGeom>
        </p:spPr>
      </p:pic>
      <p:sp>
        <p:nvSpPr>
          <p:cNvPr id="53" name="Text 44"/>
          <p:cNvSpPr txBox="1"/>
          <p:nvPr/>
        </p:nvSpPr>
        <p:spPr>
          <a:xfrm>
            <a:off x="1691640" y="5120640"/>
            <a:ext cx="5943600" cy="365760"/>
          </a:xfrm>
          <a:prstGeom prst="rect">
            <a:avLst/>
          </a:prstGeom>
          <a:noFill/>
          <a:ln/>
        </p:spPr>
        <p:txBody>
          <a:bodyPr wrap="square" lIns="0" tIns="0" rIns="0" bIns="0" rtlCol="0" anchor="t"/>
          <a:lstStyle/>
          <a:p>
            <a:pPr indent="0" marL="0">
              <a:buNone/>
            </a:pPr>
            <a:r>
              <a:rPr lang="en-US" sz="1600" b="1" dirty="0">
                <a:solidFill>
                  <a:srgbClr val="FFFFFF"/>
                </a:solidFill>
              </a:rPr>
              <a:t>Memoria del proyecto en cada turno</a:t>
            </a:r>
            <a:endParaRPr lang="en-US" sz="1600" dirty="0"/>
          </a:p>
        </p:txBody>
      </p:sp>
      <p:sp>
        <p:nvSpPr>
          <p:cNvPr id="54" name="Text 45"/>
          <p:cNvSpPr txBox="1"/>
          <p:nvPr/>
        </p:nvSpPr>
        <p:spPr>
          <a:xfrm>
            <a:off x="1691640" y="5486400"/>
            <a:ext cx="9692640" cy="502920"/>
          </a:xfrm>
          <a:prstGeom prst="rect">
            <a:avLst/>
          </a:prstGeom>
          <a:noFill/>
          <a:ln/>
        </p:spPr>
        <p:txBody>
          <a:bodyPr wrap="square" lIns="0" tIns="0" rIns="0" bIns="0" rtlCol="0" anchor="t"/>
          <a:lstStyle/>
          <a:p>
            <a:pPr indent="0" marL="0">
              <a:buNone/>
            </a:pPr>
            <a:r>
              <a:rPr lang="en-US" sz="1300" dirty="0">
                <a:solidFill>
                  <a:srgbClr val="CFE0FB"/>
                </a:solidFill>
              </a:rPr>
              <a:t>/recuerda «los commits, en inglés»: sobrevive a la compactación y el agente solo puede proponer notas que tú apruebas (SLUMP, AMIA).</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Seguridad en capas: el prompt no basta</a:t>
            </a:r>
            <a:endParaRPr lang="en-US" sz="3200" dirty="0"/>
          </a:p>
        </p:txBody>
      </p:sp>
      <p:sp>
        <p:nvSpPr>
          <p:cNvPr id="3" name="capa Política del motor"/>
          <p:cNvSpPr/>
          <p:nvPr/>
        </p:nvSpPr>
        <p:spPr>
          <a:xfrm>
            <a:off x="548640" y="1280160"/>
            <a:ext cx="6309360" cy="1051560"/>
          </a:xfrm>
          <a:prstGeom prst="roundRect">
            <a:avLst>
              <a:gd name="adj" fmla="val 17391"/>
            </a:avLst>
          </a:prstGeom>
          <a:solidFill>
            <a:srgbClr val="0B57D0"/>
          </a:solidFill>
          <a:ln/>
          <a:effectLst>
            <a:outerShdw sx="100000" sy="100000" kx="0" ky="0" algn="bl" rotWithShape="0" blurRad="127000" dist="38100" dir="5400000">
              <a:srgbClr val="0B1B33">
                <a:alpha val="16000"/>
              </a:srgbClr>
            </a:outerShdw>
          </a:effectLst>
        </p:spPr>
      </p:sp>
      <p:pic>
        <p:nvPicPr>
          <p:cNvPr id="4" name="Image 0" descr="Política del motor">    </p:cNvPr>
          <p:cNvPicPr>
            <a:picLocks noChangeAspect="1"/>
          </p:cNvPicPr>
          <p:nvPr/>
        </p:nvPicPr>
        <p:blipFill>
          <a:blip r:embed="rId1"/>
          <a:stretch>
            <a:fillRect/>
          </a:stretch>
        </p:blipFill>
        <p:spPr>
          <a:xfrm>
            <a:off x="822960" y="1572768"/>
            <a:ext cx="457200" cy="457200"/>
          </a:xfrm>
          <a:prstGeom prst="rect">
            <a:avLst/>
          </a:prstGeom>
        </p:spPr>
      </p:pic>
      <p:sp>
        <p:nvSpPr>
          <p:cNvPr id="5" name="Text 2"/>
          <p:cNvSpPr txBox="1"/>
          <p:nvPr/>
        </p:nvSpPr>
        <p:spPr>
          <a:xfrm>
            <a:off x="1463040" y="1399032"/>
            <a:ext cx="5029200" cy="365760"/>
          </a:xfrm>
          <a:prstGeom prst="rect">
            <a:avLst/>
          </a:prstGeom>
          <a:noFill/>
          <a:ln/>
        </p:spPr>
        <p:txBody>
          <a:bodyPr wrap="square" lIns="0" tIns="0" rIns="0" bIns="0" rtlCol="0" anchor="t"/>
          <a:lstStyle/>
          <a:p>
            <a:pPr indent="0" marL="0">
              <a:buNone/>
            </a:pPr>
            <a:r>
              <a:rPr lang="en-US" sz="1600" b="1" dirty="0">
                <a:solidFill>
                  <a:srgbClr val="FFFFFF"/>
                </a:solidFill>
              </a:rPr>
              <a:t>Política del motor</a:t>
            </a:r>
            <a:endParaRPr lang="en-US" sz="1600" dirty="0"/>
          </a:p>
        </p:txBody>
      </p:sp>
      <p:sp>
        <p:nvSpPr>
          <p:cNvPr id="6" name="Text 3"/>
          <p:cNvSpPr txBox="1"/>
          <p:nvPr/>
        </p:nvSpPr>
        <p:spPr>
          <a:xfrm>
            <a:off x="1463040" y="1755648"/>
            <a:ext cx="5120640" cy="548640"/>
          </a:xfrm>
          <a:prstGeom prst="rect">
            <a:avLst/>
          </a:prstGeom>
          <a:noFill/>
          <a:ln/>
        </p:spPr>
        <p:txBody>
          <a:bodyPr wrap="square" lIns="0" tIns="0" rIns="0" bIns="0" rtlCol="0" anchor="t"/>
          <a:lstStyle/>
          <a:p>
            <a:pPr indent="0" marL="0">
              <a:buNone/>
            </a:pPr>
            <a:r>
              <a:rPr lang="en-US" sz="1200" dirty="0">
                <a:solidFill>
                  <a:srgbClr val="EAF2FD"/>
                </a:solidFill>
              </a:rPr>
              <a:t>rm -rf /, mkfs, format: se deniegan siempre. git push, reset --hard: se preguntan.</a:t>
            </a:r>
            <a:endParaRPr lang="en-US" sz="1200" dirty="0"/>
          </a:p>
        </p:txBody>
      </p:sp>
      <p:sp>
        <p:nvSpPr>
          <p:cNvPr id="7" name="capa Mini sandbox"/>
          <p:cNvSpPr/>
          <p:nvPr/>
        </p:nvSpPr>
        <p:spPr>
          <a:xfrm>
            <a:off x="841248" y="2487168"/>
            <a:ext cx="5724144" cy="1051560"/>
          </a:xfrm>
          <a:prstGeom prst="roundRect">
            <a:avLst>
              <a:gd name="adj" fmla="val 17391"/>
            </a:avLst>
          </a:prstGeom>
          <a:solidFill>
            <a:srgbClr val="1C5FD0"/>
          </a:solidFill>
          <a:ln/>
          <a:effectLst>
            <a:outerShdw sx="100000" sy="100000" kx="0" ky="0" algn="bl" rotWithShape="0" blurRad="127000" dist="38100" dir="5400000">
              <a:srgbClr val="0B1B33">
                <a:alpha val="16000"/>
              </a:srgbClr>
            </a:outerShdw>
          </a:effectLst>
        </p:spPr>
      </p:sp>
      <p:pic>
        <p:nvPicPr>
          <p:cNvPr id="8" name="Image 1" descr="Mini sandbox">    </p:cNvPr>
          <p:cNvPicPr>
            <a:picLocks noChangeAspect="1"/>
          </p:cNvPicPr>
          <p:nvPr/>
        </p:nvPicPr>
        <p:blipFill>
          <a:blip r:embed="rId2"/>
          <a:stretch>
            <a:fillRect/>
          </a:stretch>
        </p:blipFill>
        <p:spPr>
          <a:xfrm>
            <a:off x="1115568" y="2779776"/>
            <a:ext cx="457200" cy="457200"/>
          </a:xfrm>
          <a:prstGeom prst="rect">
            <a:avLst/>
          </a:prstGeom>
        </p:spPr>
      </p:pic>
      <p:sp>
        <p:nvSpPr>
          <p:cNvPr id="9" name="Text 5"/>
          <p:cNvSpPr txBox="1"/>
          <p:nvPr/>
        </p:nvSpPr>
        <p:spPr>
          <a:xfrm>
            <a:off x="1755648" y="2606040"/>
            <a:ext cx="4443984" cy="365760"/>
          </a:xfrm>
          <a:prstGeom prst="rect">
            <a:avLst/>
          </a:prstGeom>
          <a:noFill/>
          <a:ln/>
        </p:spPr>
        <p:txBody>
          <a:bodyPr wrap="square" lIns="0" tIns="0" rIns="0" bIns="0" rtlCol="0" anchor="t"/>
          <a:lstStyle/>
          <a:p>
            <a:pPr indent="0" marL="0">
              <a:buNone/>
            </a:pPr>
            <a:r>
              <a:rPr lang="en-US" sz="1600" b="1" dirty="0">
                <a:solidFill>
                  <a:srgbClr val="FFFFFF"/>
                </a:solidFill>
              </a:rPr>
              <a:t>Mini sandbox</a:t>
            </a:r>
            <a:endParaRPr lang="en-US" sz="1600" dirty="0"/>
          </a:p>
        </p:txBody>
      </p:sp>
      <p:sp>
        <p:nvSpPr>
          <p:cNvPr id="10" name="Text 6"/>
          <p:cNvSpPr txBox="1"/>
          <p:nvPr/>
        </p:nvSpPr>
        <p:spPr>
          <a:xfrm>
            <a:off x="1755648" y="2962656"/>
            <a:ext cx="4535424" cy="548640"/>
          </a:xfrm>
          <a:prstGeom prst="rect">
            <a:avLst/>
          </a:prstGeom>
          <a:noFill/>
          <a:ln/>
        </p:spPr>
        <p:txBody>
          <a:bodyPr wrap="square" lIns="0" tIns="0" rIns="0" bIns="0" rtlCol="0" anchor="t"/>
          <a:lstStyle/>
          <a:p>
            <a:pPr indent="0" marL="0">
              <a:buNone/>
            </a:pPr>
            <a:r>
              <a:rPr lang="en-US" sz="1200" dirty="0">
                <a:solidFill>
                  <a:srgbClr val="EAF2FD"/>
                </a:solidFill>
              </a:rPr>
              <a:t>Agentes externos en overlay sin red (Linux) o en git worktree (Windows).</a:t>
            </a:r>
            <a:endParaRPr lang="en-US" sz="1200" dirty="0"/>
          </a:p>
        </p:txBody>
      </p:sp>
      <p:sp>
        <p:nvSpPr>
          <p:cNvPr id="11" name="capa Puntos de control"/>
          <p:cNvSpPr/>
          <p:nvPr/>
        </p:nvSpPr>
        <p:spPr>
          <a:xfrm>
            <a:off x="1133856" y="3694176"/>
            <a:ext cx="5138928" cy="1051560"/>
          </a:xfrm>
          <a:prstGeom prst="roundRect">
            <a:avLst>
              <a:gd name="adj" fmla="val 17391"/>
            </a:avLst>
          </a:prstGeom>
          <a:solidFill>
            <a:srgbClr val="4F5BE8"/>
          </a:solidFill>
          <a:ln/>
          <a:effectLst>
            <a:outerShdw sx="100000" sy="100000" kx="0" ky="0" algn="bl" rotWithShape="0" blurRad="127000" dist="38100" dir="5400000">
              <a:srgbClr val="0B1B33">
                <a:alpha val="16000"/>
              </a:srgbClr>
            </a:outerShdw>
          </a:effectLst>
        </p:spPr>
      </p:sp>
      <p:pic>
        <p:nvPicPr>
          <p:cNvPr id="12" name="Image 2" descr="Puntos de control">    </p:cNvPr>
          <p:cNvPicPr>
            <a:picLocks noChangeAspect="1"/>
          </p:cNvPicPr>
          <p:nvPr/>
        </p:nvPicPr>
        <p:blipFill>
          <a:blip r:embed="rId3"/>
          <a:stretch>
            <a:fillRect/>
          </a:stretch>
        </p:blipFill>
        <p:spPr>
          <a:xfrm>
            <a:off x="1408176" y="3986784"/>
            <a:ext cx="457200" cy="457200"/>
          </a:xfrm>
          <a:prstGeom prst="rect">
            <a:avLst/>
          </a:prstGeom>
        </p:spPr>
      </p:pic>
      <p:sp>
        <p:nvSpPr>
          <p:cNvPr id="13" name="Text 8"/>
          <p:cNvSpPr txBox="1"/>
          <p:nvPr/>
        </p:nvSpPr>
        <p:spPr>
          <a:xfrm>
            <a:off x="2048256" y="3813048"/>
            <a:ext cx="3858768" cy="365760"/>
          </a:xfrm>
          <a:prstGeom prst="rect">
            <a:avLst/>
          </a:prstGeom>
          <a:noFill/>
          <a:ln/>
        </p:spPr>
        <p:txBody>
          <a:bodyPr wrap="square" lIns="0" tIns="0" rIns="0" bIns="0" rtlCol="0" anchor="t"/>
          <a:lstStyle/>
          <a:p>
            <a:pPr indent="0" marL="0">
              <a:buNone/>
            </a:pPr>
            <a:r>
              <a:rPr lang="en-US" sz="1600" b="1" dirty="0">
                <a:solidFill>
                  <a:srgbClr val="FFFFFF"/>
                </a:solidFill>
              </a:rPr>
              <a:t>Puntos de control</a:t>
            </a:r>
            <a:endParaRPr lang="en-US" sz="1600" dirty="0"/>
          </a:p>
        </p:txBody>
      </p:sp>
      <p:sp>
        <p:nvSpPr>
          <p:cNvPr id="14" name="Text 9"/>
          <p:cNvSpPr txBox="1"/>
          <p:nvPr/>
        </p:nvSpPr>
        <p:spPr>
          <a:xfrm>
            <a:off x="2048256" y="4169664"/>
            <a:ext cx="3950208" cy="548640"/>
          </a:xfrm>
          <a:prstGeom prst="rect">
            <a:avLst/>
          </a:prstGeom>
          <a:noFill/>
          <a:ln/>
        </p:spPr>
        <p:txBody>
          <a:bodyPr wrap="square" lIns="0" tIns="0" rIns="0" bIns="0" rtlCol="0" anchor="t"/>
          <a:lstStyle/>
          <a:p>
            <a:pPr indent="0" marL="0">
              <a:buNone/>
            </a:pPr>
            <a:r>
              <a:rPr lang="en-US" sz="1200" dirty="0">
                <a:solidFill>
                  <a:srgbClr val="EAF2FD"/>
                </a:solidFill>
              </a:rPr>
              <a:t>Cada archivo que escribe el agente se guarda antes: deshacer por turno.</a:t>
            </a:r>
            <a:endParaRPr lang="en-US" sz="1200" dirty="0"/>
          </a:p>
        </p:txBody>
      </p:sp>
      <p:sp>
        <p:nvSpPr>
          <p:cNvPr id="15" name="capa Auditoría encadenada"/>
          <p:cNvSpPr/>
          <p:nvPr/>
        </p:nvSpPr>
        <p:spPr>
          <a:xfrm>
            <a:off x="1426464" y="4901184"/>
            <a:ext cx="4553712" cy="1051560"/>
          </a:xfrm>
          <a:prstGeom prst="roundRect">
            <a:avLst>
              <a:gd name="adj" fmla="val 17391"/>
            </a:avLst>
          </a:prstGeom>
          <a:solidFill>
            <a:srgbClr val="6F5CFF"/>
          </a:solidFill>
          <a:ln/>
          <a:effectLst>
            <a:outerShdw sx="100000" sy="100000" kx="0" ky="0" algn="bl" rotWithShape="0" blurRad="127000" dist="38100" dir="5400000">
              <a:srgbClr val="0B1B33">
                <a:alpha val="16000"/>
              </a:srgbClr>
            </a:outerShdw>
          </a:effectLst>
        </p:spPr>
      </p:sp>
      <p:pic>
        <p:nvPicPr>
          <p:cNvPr id="16" name="Image 3" descr="Auditoría encadenada">    </p:cNvPr>
          <p:cNvPicPr>
            <a:picLocks noChangeAspect="1"/>
          </p:cNvPicPr>
          <p:nvPr/>
        </p:nvPicPr>
        <p:blipFill>
          <a:blip r:embed="rId4"/>
          <a:stretch>
            <a:fillRect/>
          </a:stretch>
        </p:blipFill>
        <p:spPr>
          <a:xfrm>
            <a:off x="1700784" y="5193792"/>
            <a:ext cx="457200" cy="457200"/>
          </a:xfrm>
          <a:prstGeom prst="rect">
            <a:avLst/>
          </a:prstGeom>
        </p:spPr>
      </p:pic>
      <p:sp>
        <p:nvSpPr>
          <p:cNvPr id="17" name="Text 11"/>
          <p:cNvSpPr txBox="1"/>
          <p:nvPr/>
        </p:nvSpPr>
        <p:spPr>
          <a:xfrm>
            <a:off x="2340864" y="5020056"/>
            <a:ext cx="3273552" cy="365760"/>
          </a:xfrm>
          <a:prstGeom prst="rect">
            <a:avLst/>
          </a:prstGeom>
          <a:noFill/>
          <a:ln/>
        </p:spPr>
        <p:txBody>
          <a:bodyPr wrap="square" lIns="0" tIns="0" rIns="0" bIns="0" rtlCol="0" anchor="t"/>
          <a:lstStyle/>
          <a:p>
            <a:pPr indent="0" marL="0">
              <a:buNone/>
            </a:pPr>
            <a:r>
              <a:rPr lang="en-US" sz="1600" b="1" dirty="0">
                <a:solidFill>
                  <a:srgbClr val="FFFFFF"/>
                </a:solidFill>
              </a:rPr>
              <a:t>Auditoría encadenada</a:t>
            </a:r>
            <a:endParaRPr lang="en-US" sz="1600" dirty="0"/>
          </a:p>
        </p:txBody>
      </p:sp>
      <p:sp>
        <p:nvSpPr>
          <p:cNvPr id="18" name="Text 12"/>
          <p:cNvSpPr txBox="1"/>
          <p:nvPr/>
        </p:nvSpPr>
        <p:spPr>
          <a:xfrm>
            <a:off x="2340864" y="5376672"/>
            <a:ext cx="3364992" cy="548640"/>
          </a:xfrm>
          <a:prstGeom prst="rect">
            <a:avLst/>
          </a:prstGeom>
          <a:noFill/>
          <a:ln/>
        </p:spPr>
        <p:txBody>
          <a:bodyPr wrap="square" lIns="0" tIns="0" rIns="0" bIns="0" rtlCol="0" anchor="t"/>
          <a:lstStyle/>
          <a:p>
            <a:pPr indent="0" marL="0">
              <a:buNone/>
            </a:pPr>
            <a:r>
              <a:rPr lang="en-US" sz="1200" dirty="0">
                <a:solidFill>
                  <a:srgbClr val="EAF2FD"/>
                </a:solidFill>
              </a:rPr>
              <a:t>Cada acción, con hash encadenado; Studio comprueba que nadie la ha tocado.</a:t>
            </a:r>
            <a:endParaRPr lang="en-US" sz="1200" dirty="0"/>
          </a:p>
        </p:txBody>
      </p:sp>
      <p:sp>
        <p:nvSpPr>
          <p:cNvPr id="19" name="marco studio-actividad.png"/>
          <p:cNvSpPr/>
          <p:nvPr/>
        </p:nvSpPr>
        <p:spPr>
          <a:xfrm>
            <a:off x="7214616" y="1271016"/>
            <a:ext cx="4498848" cy="2852928"/>
          </a:xfrm>
          <a:prstGeom prst="roundRect">
            <a:avLst>
              <a:gd name="adj" fmla="val 3846"/>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20" name="Image 4" descr="Vista Actividad con los turnos del agente y la auditoría íntegra">    </p:cNvPr>
          <p:cNvPicPr>
            <a:picLocks noChangeAspect="1"/>
          </p:cNvPicPr>
          <p:nvPr/>
        </p:nvPicPr>
        <p:blipFill>
          <a:blip r:embed="rId5"/>
          <a:stretch>
            <a:fillRect/>
          </a:stretch>
        </p:blipFill>
        <p:spPr>
          <a:xfrm>
            <a:off x="7269480" y="1325880"/>
            <a:ext cx="4389120" cy="2743200"/>
          </a:xfrm>
          <a:prstGeom prst="rect">
            <a:avLst/>
          </a:prstGeom>
        </p:spPr>
      </p:pic>
      <p:sp>
        <p:nvSpPr>
          <p:cNvPr id="21" name="Text 14"/>
          <p:cNvSpPr txBox="1"/>
          <p:nvPr/>
        </p:nvSpPr>
        <p:spPr>
          <a:xfrm>
            <a:off x="7269480" y="4297680"/>
            <a:ext cx="4389120" cy="731520"/>
          </a:xfrm>
          <a:prstGeom prst="rect">
            <a:avLst/>
          </a:prstGeom>
          <a:noFill/>
          <a:ln/>
        </p:spPr>
        <p:txBody>
          <a:bodyPr wrap="square" lIns="0" tIns="0" rIns="0" bIns="0" rtlCol="0" anchor="t"/>
          <a:lstStyle/>
          <a:p>
            <a:pPr indent="0" marL="0">
              <a:buNone/>
            </a:pPr>
            <a:r>
              <a:rPr lang="en-US" sz="1300" dirty="0">
                <a:solidFill>
                  <a:srgbClr val="475A75"/>
                </a:solidFill>
              </a:rPr>
              <a:t>Vista Actividad: cada turno con sus archivos, deshacer y rehacer, y la auditoría con su integridad comprobada.</a:t>
            </a:r>
            <a:endParaRPr lang="en-US" sz="1300" dirty="0"/>
          </a:p>
        </p:txBody>
      </p:sp>
      <p:sp>
        <p:nvSpPr>
          <p:cNvPr id="22" name="Text 15"/>
          <p:cNvSpPr txBox="1"/>
          <p:nvPr/>
        </p:nvSpPr>
        <p:spPr>
          <a:xfrm>
            <a:off x="7269480" y="5257800"/>
            <a:ext cx="4389120" cy="548640"/>
          </a:xfrm>
          <a:prstGeom prst="rect">
            <a:avLst/>
          </a:prstGeom>
          <a:noFill/>
          <a:ln/>
        </p:spPr>
        <p:txBody>
          <a:bodyPr wrap="square" lIns="0" tIns="0" rIns="0" bIns="0" rtlCol="0" anchor="t"/>
          <a:lstStyle/>
          <a:p>
            <a:pPr indent="0" marL="0">
              <a:buNone/>
            </a:pPr>
            <a:r>
              <a:rPr lang="en-US" sz="1300" b="1" dirty="0">
                <a:solidFill>
                  <a:srgbClr val="146C2E"/>
                </a:solidFill>
              </a:rPr>
              <a:t>Eval de seguridad en cada CI: 20 casos de inyección de prompts y órdenes destructivas.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Del error al arreglo, y revisión antes del commit</a:t>
            </a:r>
            <a:endParaRPr lang="en-US" sz="3200" dirty="0"/>
          </a:p>
        </p:txBody>
      </p:sp>
      <p:sp>
        <p:nvSpPr>
          <p:cNvPr id="3" name="marco studio-lsp.png"/>
          <p:cNvSpPr/>
          <p:nvPr/>
        </p:nvSpPr>
        <p:spPr>
          <a:xfrm>
            <a:off x="493776" y="1225296"/>
            <a:ext cx="5458968" cy="3453003"/>
          </a:xfrm>
          <a:prstGeom prst="roundRect">
            <a:avLst>
              <a:gd name="adj" fmla="val 3178"/>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4" name="Image 0" descr="Error de tipo subrayado con el botón Arreglar con el agente">    </p:cNvPr>
          <p:cNvPicPr>
            <a:picLocks noChangeAspect="1"/>
          </p:cNvPicPr>
          <p:nvPr/>
        </p:nvPicPr>
        <p:blipFill>
          <a:blip r:embed="rId1"/>
          <a:stretch>
            <a:fillRect/>
          </a:stretch>
        </p:blipFill>
        <p:spPr>
          <a:xfrm>
            <a:off x="548640" y="1280160"/>
            <a:ext cx="5349240" cy="3343275"/>
          </a:xfrm>
          <a:prstGeom prst="rect">
            <a:avLst/>
          </a:prstGeom>
        </p:spPr>
      </p:pic>
      <p:sp>
        <p:nvSpPr>
          <p:cNvPr id="5" name="marco studio-revision.png"/>
          <p:cNvSpPr/>
          <p:nvPr/>
        </p:nvSpPr>
        <p:spPr>
          <a:xfrm>
            <a:off x="6254496" y="1225296"/>
            <a:ext cx="5458968" cy="3453003"/>
          </a:xfrm>
          <a:prstGeom prst="roundRect">
            <a:avLst>
              <a:gd name="adj" fmla="val 3178"/>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6" name="Image 1" descr="Revisión de los cambios generada por el asistente">    </p:cNvPr>
          <p:cNvPicPr>
            <a:picLocks noChangeAspect="1"/>
          </p:cNvPicPr>
          <p:nvPr/>
        </p:nvPicPr>
        <p:blipFill>
          <a:blip r:embed="rId2"/>
          <a:stretch>
            <a:fillRect/>
          </a:stretch>
        </p:blipFill>
        <p:spPr>
          <a:xfrm>
            <a:off x="6309360" y="1280160"/>
            <a:ext cx="5349240" cy="3343275"/>
          </a:xfrm>
          <a:prstGeom prst="rect">
            <a:avLst/>
          </a:prstGeom>
        </p:spPr>
      </p:pic>
      <p:sp>
        <p:nvSpPr>
          <p:cNvPr id="7" name="Text 3"/>
          <p:cNvSpPr txBox="1"/>
          <p:nvPr/>
        </p:nvSpPr>
        <p:spPr>
          <a:xfrm>
            <a:off x="548640" y="4852035"/>
            <a:ext cx="5349240" cy="365760"/>
          </a:xfrm>
          <a:prstGeom prst="rect">
            <a:avLst/>
          </a:prstGeom>
          <a:noFill/>
          <a:ln/>
        </p:spPr>
        <p:txBody>
          <a:bodyPr wrap="square" lIns="0" tIns="0" rIns="0" bIns="0" rtlCol="0" anchor="t"/>
          <a:lstStyle/>
          <a:p>
            <a:pPr indent="0" marL="0">
              <a:buNone/>
            </a:pPr>
            <a:r>
              <a:rPr lang="en-US" sz="1600" b="1" dirty="0">
                <a:solidFill>
                  <a:schemeClr val="tx1"/>
                </a:solidFill>
              </a:rPr>
              <a:t>✦ Arreglar con el agente</a:t>
            </a:r>
            <a:endParaRPr lang="en-US" sz="1600" dirty="0"/>
          </a:p>
        </p:txBody>
      </p:sp>
      <p:sp>
        <p:nvSpPr>
          <p:cNvPr id="8" name="Text 4"/>
          <p:cNvSpPr txBox="1"/>
          <p:nvPr/>
        </p:nvSpPr>
        <p:spPr>
          <a:xfrm>
            <a:off x="548640" y="5217795"/>
            <a:ext cx="5349240" cy="640080"/>
          </a:xfrm>
          <a:prstGeom prst="rect">
            <a:avLst/>
          </a:prstGeom>
          <a:noFill/>
          <a:ln/>
        </p:spPr>
        <p:txBody>
          <a:bodyPr wrap="square" lIns="0" tIns="0" rIns="0" bIns="0" rtlCol="0" anchor="t"/>
          <a:lstStyle/>
          <a:p>
            <a:pPr indent="0" marL="0">
              <a:buNone/>
            </a:pPr>
            <a:r>
              <a:rPr lang="en-US" sz="1300" dirty="0">
                <a:solidFill>
                  <a:srgbClr val="475A75"/>
                </a:solidFill>
              </a:rPr>
              <a:t>El error del LSP (aquí con pyright) llega al agente con archivo, línea, función y código alrededor.</a:t>
            </a:r>
            <a:endParaRPr lang="en-US" sz="1300" dirty="0"/>
          </a:p>
        </p:txBody>
      </p:sp>
      <p:sp>
        <p:nvSpPr>
          <p:cNvPr id="9" name="Text 5"/>
          <p:cNvSpPr txBox="1"/>
          <p:nvPr/>
        </p:nvSpPr>
        <p:spPr>
          <a:xfrm>
            <a:off x="6309360" y="4852035"/>
            <a:ext cx="5349240" cy="365760"/>
          </a:xfrm>
          <a:prstGeom prst="rect">
            <a:avLst/>
          </a:prstGeom>
          <a:noFill/>
          <a:ln/>
        </p:spPr>
        <p:txBody>
          <a:bodyPr wrap="square" lIns="0" tIns="0" rIns="0" bIns="0" rtlCol="0" anchor="t"/>
          <a:lstStyle/>
          <a:p>
            <a:pPr indent="0" marL="0">
              <a:buNone/>
            </a:pPr>
            <a:r>
              <a:rPr lang="en-US" sz="1600" b="1" dirty="0">
                <a:solidFill>
                  <a:schemeClr val="tx1"/>
                </a:solidFill>
              </a:rPr>
              <a:t>✦ Revisar y ✦ Generar mensaje</a:t>
            </a:r>
            <a:endParaRPr lang="en-US" sz="1600" dirty="0"/>
          </a:p>
        </p:txBody>
      </p:sp>
      <p:sp>
        <p:nvSpPr>
          <p:cNvPr id="10" name="Text 6"/>
          <p:cNvSpPr txBox="1"/>
          <p:nvPr/>
        </p:nvSpPr>
        <p:spPr>
          <a:xfrm>
            <a:off x="6309360" y="5217795"/>
            <a:ext cx="5349240" cy="640080"/>
          </a:xfrm>
          <a:prstGeom prst="rect">
            <a:avLst/>
          </a:prstGeom>
          <a:noFill/>
          <a:ln/>
        </p:spPr>
        <p:txBody>
          <a:bodyPr wrap="square" lIns="0" tIns="0" rIns="0" bIns="0" rtlCol="0" anchor="t"/>
          <a:lstStyle/>
          <a:p>
            <a:pPr indent="0" marL="0">
              <a:buNone/>
            </a:pPr>
            <a:r>
              <a:rPr lang="en-US" sz="1300" dirty="0">
                <a:solidFill>
                  <a:srgbClr val="475A75"/>
                </a:solidFill>
              </a:rPr>
              <a:t>Antes del commit: revisión con veredicto y el mensaje escrito a partir del diff y de tu estilo.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Lo nuevo de la 1.1: un agente más listo</a:t>
            </a:r>
            <a:endParaRPr lang="en-US" sz="3200" dirty="0"/>
          </a:p>
        </p:txBody>
      </p:sp>
      <p:sp>
        <p:nvSpPr>
          <p:cNvPr id="3" name="icono FiCompass"/>
          <p:cNvSpPr/>
          <p:nvPr/>
        </p:nvSpPr>
        <p:spPr>
          <a:xfrm>
            <a:off x="548640" y="1325880"/>
            <a:ext cx="658368" cy="658368"/>
          </a:xfrm>
          <a:prstGeom prst="ellipse">
            <a:avLst/>
          </a:prstGeom>
          <a:solidFill>
            <a:srgbClr val="0B57D0"/>
          </a:solidFill>
          <a:ln/>
        </p:spPr>
      </p:sp>
      <p:pic>
        <p:nvPicPr>
          <p:cNvPr id="4" name="Image 0" descr="FiCompass">    </p:cNvPr>
          <p:cNvPicPr>
            <a:picLocks noChangeAspect="1"/>
          </p:cNvPicPr>
          <p:nvPr/>
        </p:nvPicPr>
        <p:blipFill>
          <a:blip r:embed="rId1"/>
          <a:stretch>
            <a:fillRect/>
          </a:stretch>
        </p:blipFill>
        <p:spPr>
          <a:xfrm>
            <a:off x="706648" y="1483888"/>
            <a:ext cx="342351" cy="342351"/>
          </a:xfrm>
          <a:prstGeom prst="rect">
            <a:avLst/>
          </a:prstGeom>
        </p:spPr>
      </p:pic>
      <p:sp>
        <p:nvSpPr>
          <p:cNvPr id="5" name="Text 2"/>
          <p:cNvSpPr txBox="1"/>
          <p:nvPr/>
        </p:nvSpPr>
        <p:spPr>
          <a:xfrm>
            <a:off x="1417320" y="1344168"/>
            <a:ext cx="3840480" cy="347472"/>
          </a:xfrm>
          <a:prstGeom prst="rect">
            <a:avLst/>
          </a:prstGeom>
          <a:noFill/>
          <a:ln/>
        </p:spPr>
        <p:txBody>
          <a:bodyPr wrap="square" lIns="0" tIns="0" rIns="0" bIns="0" rtlCol="0" anchor="t"/>
          <a:lstStyle/>
          <a:p>
            <a:pPr indent="0" marL="0">
              <a:buNone/>
            </a:pPr>
            <a:r>
              <a:rPr lang="en-US" sz="1600" b="1" dirty="0">
                <a:solidFill>
                  <a:schemeClr val="tx1"/>
                </a:solidFill>
              </a:rPr>
              <a:t>Localiza antes de leer</a:t>
            </a:r>
            <a:endParaRPr lang="en-US" sz="1600" dirty="0"/>
          </a:p>
        </p:txBody>
      </p:sp>
      <p:sp>
        <p:nvSpPr>
          <p:cNvPr id="6" name="Text 3"/>
          <p:cNvSpPr txBox="1"/>
          <p:nvPr/>
        </p:nvSpPr>
        <p:spPr>
          <a:xfrm>
            <a:off x="1417320" y="1691640"/>
            <a:ext cx="3840480" cy="320040"/>
          </a:xfrm>
          <a:prstGeom prst="rect">
            <a:avLst/>
          </a:prstGeom>
          <a:noFill/>
          <a:ln/>
        </p:spPr>
        <p:txBody>
          <a:bodyPr wrap="square" lIns="0" tIns="0" rIns="0" bIns="0" rtlCol="0" anchor="t"/>
          <a:lstStyle/>
          <a:p>
            <a:pPr indent="0" marL="0">
              <a:buNone/>
            </a:pPr>
            <a:r>
              <a:rPr lang="en-US" sz="1250" dirty="0">
                <a:solidFill>
                  <a:srgbClr val="475A75"/>
                </a:solidFill>
              </a:rPr>
              <a:t>tool esquema · RepoNav, SHERLOC</a:t>
            </a:r>
            <a:endParaRPr lang="en-US" sz="1250" dirty="0"/>
          </a:p>
        </p:txBody>
      </p:sp>
      <p:sp>
        <p:nvSpPr>
          <p:cNvPr id="7" name="icono FiHelpCircle"/>
          <p:cNvSpPr/>
          <p:nvPr/>
        </p:nvSpPr>
        <p:spPr>
          <a:xfrm>
            <a:off x="548640" y="2267712"/>
            <a:ext cx="658368" cy="658368"/>
          </a:xfrm>
          <a:prstGeom prst="ellipse">
            <a:avLst/>
          </a:prstGeom>
          <a:solidFill>
            <a:srgbClr val="6F5CFF"/>
          </a:solidFill>
          <a:ln/>
        </p:spPr>
      </p:sp>
      <p:pic>
        <p:nvPicPr>
          <p:cNvPr id="8" name="Image 1" descr="FiHelpCircle">    </p:cNvPr>
          <p:cNvPicPr>
            <a:picLocks noChangeAspect="1"/>
          </p:cNvPicPr>
          <p:nvPr/>
        </p:nvPicPr>
        <p:blipFill>
          <a:blip r:embed="rId2"/>
          <a:stretch>
            <a:fillRect/>
          </a:stretch>
        </p:blipFill>
        <p:spPr>
          <a:xfrm>
            <a:off x="706648" y="2425720"/>
            <a:ext cx="342351" cy="342351"/>
          </a:xfrm>
          <a:prstGeom prst="rect">
            <a:avLst/>
          </a:prstGeom>
        </p:spPr>
      </p:pic>
      <p:sp>
        <p:nvSpPr>
          <p:cNvPr id="9" name="Text 5"/>
          <p:cNvSpPr txBox="1"/>
          <p:nvPr/>
        </p:nvSpPr>
        <p:spPr>
          <a:xfrm>
            <a:off x="1417320" y="2286000"/>
            <a:ext cx="3840480" cy="347472"/>
          </a:xfrm>
          <a:prstGeom prst="rect">
            <a:avLst/>
          </a:prstGeom>
          <a:noFill/>
          <a:ln/>
        </p:spPr>
        <p:txBody>
          <a:bodyPr wrap="square" lIns="0" tIns="0" rIns="0" bIns="0" rtlCol="0" anchor="t"/>
          <a:lstStyle/>
          <a:p>
            <a:pPr indent="0" marL="0">
              <a:buNone/>
            </a:pPr>
            <a:r>
              <a:rPr lang="en-US" sz="1600" b="1" dirty="0">
                <a:solidFill>
                  <a:schemeClr val="tx1"/>
                </a:solidFill>
              </a:rPr>
              <a:t>Pregunta si hace falta</a:t>
            </a:r>
            <a:endParaRPr lang="en-US" sz="1600" dirty="0"/>
          </a:p>
        </p:txBody>
      </p:sp>
      <p:sp>
        <p:nvSpPr>
          <p:cNvPr id="10" name="Text 6"/>
          <p:cNvSpPr txBox="1"/>
          <p:nvPr/>
        </p:nvSpPr>
        <p:spPr>
          <a:xfrm>
            <a:off x="1417320" y="2633472"/>
            <a:ext cx="3840480" cy="320040"/>
          </a:xfrm>
          <a:prstGeom prst="rect">
            <a:avLst/>
          </a:prstGeom>
          <a:noFill/>
          <a:ln/>
        </p:spPr>
        <p:txBody>
          <a:bodyPr wrap="square" lIns="0" tIns="0" rIns="0" bIns="0" rtlCol="0" anchor="t"/>
          <a:lstStyle/>
          <a:p>
            <a:pPr indent="0" marL="0">
              <a:buNone/>
            </a:pPr>
            <a:r>
              <a:rPr lang="en-US" sz="1250" dirty="0">
                <a:solidFill>
                  <a:srgbClr val="475A75"/>
                </a:solidFill>
              </a:rPr>
              <a:t>como mucho 2 por petición · Ask or Assume?</a:t>
            </a:r>
            <a:endParaRPr lang="en-US" sz="1250" dirty="0"/>
          </a:p>
        </p:txBody>
      </p:sp>
      <p:sp>
        <p:nvSpPr>
          <p:cNvPr id="11" name="icono FiDatabase"/>
          <p:cNvSpPr/>
          <p:nvPr/>
        </p:nvSpPr>
        <p:spPr>
          <a:xfrm>
            <a:off x="548640" y="3209544"/>
            <a:ext cx="658368" cy="658368"/>
          </a:xfrm>
          <a:prstGeom prst="ellipse">
            <a:avLst/>
          </a:prstGeom>
          <a:solidFill>
            <a:srgbClr val="0B57D0"/>
          </a:solidFill>
          <a:ln/>
        </p:spPr>
      </p:sp>
      <p:pic>
        <p:nvPicPr>
          <p:cNvPr id="12" name="Image 2" descr="FiDatabase">    </p:cNvPr>
          <p:cNvPicPr>
            <a:picLocks noChangeAspect="1"/>
          </p:cNvPicPr>
          <p:nvPr/>
        </p:nvPicPr>
        <p:blipFill>
          <a:blip r:embed="rId3"/>
          <a:stretch>
            <a:fillRect/>
          </a:stretch>
        </p:blipFill>
        <p:spPr>
          <a:xfrm>
            <a:off x="706648" y="3367552"/>
            <a:ext cx="342351" cy="342351"/>
          </a:xfrm>
          <a:prstGeom prst="rect">
            <a:avLst/>
          </a:prstGeom>
        </p:spPr>
      </p:pic>
      <p:sp>
        <p:nvSpPr>
          <p:cNvPr id="13" name="Text 8"/>
          <p:cNvSpPr txBox="1"/>
          <p:nvPr/>
        </p:nvSpPr>
        <p:spPr>
          <a:xfrm>
            <a:off x="1417320" y="3227832"/>
            <a:ext cx="3840480" cy="347472"/>
          </a:xfrm>
          <a:prstGeom prst="rect">
            <a:avLst/>
          </a:prstGeom>
          <a:noFill/>
          <a:ln/>
        </p:spPr>
        <p:txBody>
          <a:bodyPr wrap="square" lIns="0" tIns="0" rIns="0" bIns="0" rtlCol="0" anchor="t"/>
          <a:lstStyle/>
          <a:p>
            <a:pPr indent="0" marL="0">
              <a:buNone/>
            </a:pPr>
            <a:r>
              <a:rPr lang="en-US" sz="1600" b="1" dirty="0">
                <a:solidFill>
                  <a:schemeClr val="tx1"/>
                </a:solidFill>
              </a:rPr>
              <a:t>Recuerda decisiones</a:t>
            </a:r>
            <a:endParaRPr lang="en-US" sz="1600" dirty="0"/>
          </a:p>
        </p:txBody>
      </p:sp>
      <p:sp>
        <p:nvSpPr>
          <p:cNvPr id="14" name="Text 9"/>
          <p:cNvSpPr txBox="1"/>
          <p:nvPr/>
        </p:nvSpPr>
        <p:spPr>
          <a:xfrm>
            <a:off x="1417320" y="3575304"/>
            <a:ext cx="3840480" cy="320040"/>
          </a:xfrm>
          <a:prstGeom prst="rect">
            <a:avLst/>
          </a:prstGeom>
          <a:noFill/>
          <a:ln/>
        </p:spPr>
        <p:txBody>
          <a:bodyPr wrap="square" lIns="0" tIns="0" rIns="0" bIns="0" rtlCol="0" anchor="t"/>
          <a:lstStyle/>
          <a:p>
            <a:pPr indent="0" marL="0">
              <a:buNone/>
            </a:pPr>
            <a:r>
              <a:rPr lang="en-US" sz="1250" dirty="0">
                <a:solidFill>
                  <a:srgbClr val="475A75"/>
                </a:solidFill>
              </a:rPr>
              <a:t>memoria del proyecto · SLUMP, AMIA</a:t>
            </a:r>
            <a:endParaRPr lang="en-US" sz="1250" dirty="0"/>
          </a:p>
        </p:txBody>
      </p:sp>
      <p:sp>
        <p:nvSpPr>
          <p:cNvPr id="15" name="icono FiCheckCircle"/>
          <p:cNvSpPr/>
          <p:nvPr/>
        </p:nvSpPr>
        <p:spPr>
          <a:xfrm>
            <a:off x="548640" y="4151376"/>
            <a:ext cx="658368" cy="658368"/>
          </a:xfrm>
          <a:prstGeom prst="ellipse">
            <a:avLst/>
          </a:prstGeom>
          <a:solidFill>
            <a:srgbClr val="6F5CFF"/>
          </a:solidFill>
          <a:ln/>
        </p:spPr>
      </p:sp>
      <p:pic>
        <p:nvPicPr>
          <p:cNvPr id="16" name="Image 3" descr="FiCheckCircle">    </p:cNvPr>
          <p:cNvPicPr>
            <a:picLocks noChangeAspect="1"/>
          </p:cNvPicPr>
          <p:nvPr/>
        </p:nvPicPr>
        <p:blipFill>
          <a:blip r:embed="rId4"/>
          <a:stretch>
            <a:fillRect/>
          </a:stretch>
        </p:blipFill>
        <p:spPr>
          <a:xfrm>
            <a:off x="706648" y="4309384"/>
            <a:ext cx="342351" cy="342351"/>
          </a:xfrm>
          <a:prstGeom prst="rect">
            <a:avLst/>
          </a:prstGeom>
        </p:spPr>
      </p:pic>
      <p:sp>
        <p:nvSpPr>
          <p:cNvPr id="17" name="Text 11"/>
          <p:cNvSpPr txBox="1"/>
          <p:nvPr/>
        </p:nvSpPr>
        <p:spPr>
          <a:xfrm>
            <a:off x="1417320" y="4169664"/>
            <a:ext cx="3840480" cy="347472"/>
          </a:xfrm>
          <a:prstGeom prst="rect">
            <a:avLst/>
          </a:prstGeom>
          <a:noFill/>
          <a:ln/>
        </p:spPr>
        <p:txBody>
          <a:bodyPr wrap="square" lIns="0" tIns="0" rIns="0" bIns="0" rtlCol="0" anchor="t"/>
          <a:lstStyle/>
          <a:p>
            <a:pPr indent="0" marL="0">
              <a:buNone/>
            </a:pPr>
            <a:r>
              <a:rPr lang="en-US" sz="1600" b="1" dirty="0">
                <a:solidFill>
                  <a:schemeClr val="tx1"/>
                </a:solidFill>
              </a:rPr>
              <a:t>Comprueba antes de terminar</a:t>
            </a:r>
            <a:endParaRPr lang="en-US" sz="1600" dirty="0"/>
          </a:p>
        </p:txBody>
      </p:sp>
      <p:sp>
        <p:nvSpPr>
          <p:cNvPr id="18" name="Text 12"/>
          <p:cNvSpPr txBox="1"/>
          <p:nvPr/>
        </p:nvSpPr>
        <p:spPr>
          <a:xfrm>
            <a:off x="1417320" y="4517136"/>
            <a:ext cx="3840480" cy="320040"/>
          </a:xfrm>
          <a:prstGeom prst="rect">
            <a:avLst/>
          </a:prstGeom>
          <a:noFill/>
          <a:ln/>
        </p:spPr>
        <p:txBody>
          <a:bodyPr wrap="square" lIns="0" tIns="0" rIns="0" bIns="0" rtlCol="0" anchor="t"/>
          <a:lstStyle/>
          <a:p>
            <a:pPr indent="0" marL="0">
              <a:buNone/>
            </a:pPr>
            <a:r>
              <a:rPr lang="en-US" sz="1250" dirty="0">
                <a:solidFill>
                  <a:srgbClr val="475A75"/>
                </a:solidFill>
              </a:rPr>
              <a:t>Polished but Unresolved</a:t>
            </a:r>
            <a:endParaRPr lang="en-US" sz="1250" dirty="0"/>
          </a:p>
        </p:txBody>
      </p:sp>
      <p:sp>
        <p:nvSpPr>
          <p:cNvPr id="19" name="icono FiDollarSign"/>
          <p:cNvSpPr/>
          <p:nvPr/>
        </p:nvSpPr>
        <p:spPr>
          <a:xfrm>
            <a:off x="548640" y="5093208"/>
            <a:ext cx="658368" cy="658368"/>
          </a:xfrm>
          <a:prstGeom prst="ellipse">
            <a:avLst/>
          </a:prstGeom>
          <a:solidFill>
            <a:srgbClr val="0B57D0"/>
          </a:solidFill>
          <a:ln/>
        </p:spPr>
      </p:sp>
      <p:pic>
        <p:nvPicPr>
          <p:cNvPr id="20" name="Image 4" descr="FiDollarSign">    </p:cNvPr>
          <p:cNvPicPr>
            <a:picLocks noChangeAspect="1"/>
          </p:cNvPicPr>
          <p:nvPr/>
        </p:nvPicPr>
        <p:blipFill>
          <a:blip r:embed="rId5"/>
          <a:stretch>
            <a:fillRect/>
          </a:stretch>
        </p:blipFill>
        <p:spPr>
          <a:xfrm>
            <a:off x="706648" y="5251216"/>
            <a:ext cx="342351" cy="342351"/>
          </a:xfrm>
          <a:prstGeom prst="rect">
            <a:avLst/>
          </a:prstGeom>
        </p:spPr>
      </p:pic>
      <p:sp>
        <p:nvSpPr>
          <p:cNvPr id="21" name="Text 14"/>
          <p:cNvSpPr txBox="1"/>
          <p:nvPr/>
        </p:nvSpPr>
        <p:spPr>
          <a:xfrm>
            <a:off x="1417320" y="5111496"/>
            <a:ext cx="3840480" cy="347472"/>
          </a:xfrm>
          <a:prstGeom prst="rect">
            <a:avLst/>
          </a:prstGeom>
          <a:noFill/>
          <a:ln/>
        </p:spPr>
        <p:txBody>
          <a:bodyPr wrap="square" lIns="0" tIns="0" rIns="0" bIns="0" rtlCol="0" anchor="t"/>
          <a:lstStyle/>
          <a:p>
            <a:pPr indent="0" marL="0">
              <a:buNone/>
            </a:pPr>
            <a:r>
              <a:rPr lang="en-US" sz="1600" b="1" dirty="0">
                <a:solidFill>
                  <a:schemeClr val="tx1"/>
                </a:solidFill>
              </a:rPr>
              <a:t>Coste de MCP a la vista</a:t>
            </a:r>
            <a:endParaRPr lang="en-US" sz="1600" dirty="0"/>
          </a:p>
        </p:txBody>
      </p:sp>
      <p:sp>
        <p:nvSpPr>
          <p:cNvPr id="22" name="Text 15"/>
          <p:cNvSpPr txBox="1"/>
          <p:nvPr/>
        </p:nvSpPr>
        <p:spPr>
          <a:xfrm>
            <a:off x="1417320" y="5458968"/>
            <a:ext cx="3840480" cy="320040"/>
          </a:xfrm>
          <a:prstGeom prst="rect">
            <a:avLst/>
          </a:prstGeom>
          <a:noFill/>
          <a:ln/>
        </p:spPr>
        <p:txBody>
          <a:bodyPr wrap="square" lIns="0" tIns="0" rIns="0" bIns="0" rtlCol="0" anchor="t"/>
          <a:lstStyle/>
          <a:p>
            <a:pPr indent="0" marL="0">
              <a:buNone/>
            </a:pPr>
            <a:r>
              <a:rPr lang="en-US" sz="1250" dirty="0">
                <a:solidFill>
                  <a:srgbClr val="475A75"/>
                </a:solidFill>
              </a:rPr>
              <a:t>tokens por esquema · ProMCP</a:t>
            </a:r>
            <a:endParaRPr lang="en-US" sz="1250" dirty="0"/>
          </a:p>
        </p:txBody>
      </p:sp>
      <p:sp>
        <p:nvSpPr>
          <p:cNvPr id="23" name="marco studio-pregunta.png"/>
          <p:cNvSpPr/>
          <p:nvPr/>
        </p:nvSpPr>
        <p:spPr>
          <a:xfrm>
            <a:off x="5522976" y="1271016"/>
            <a:ext cx="6190488" cy="3910203"/>
          </a:xfrm>
          <a:prstGeom prst="roundRect">
            <a:avLst>
              <a:gd name="adj" fmla="val 2806"/>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24" name="Image 5" descr="El agente pregunta con opciones y la decisión se guarda con /recuerda">    </p:cNvPr>
          <p:cNvPicPr>
            <a:picLocks noChangeAspect="1"/>
          </p:cNvPicPr>
          <p:nvPr/>
        </p:nvPicPr>
        <p:blipFill>
          <a:blip r:embed="rId6"/>
          <a:stretch>
            <a:fillRect/>
          </a:stretch>
        </p:blipFill>
        <p:spPr>
          <a:xfrm>
            <a:off x="5577840" y="1325880"/>
            <a:ext cx="6080760" cy="3800475"/>
          </a:xfrm>
          <a:prstGeom prst="rect">
            <a:avLst/>
          </a:prstGeom>
        </p:spPr>
      </p:pic>
      <p:sp>
        <p:nvSpPr>
          <p:cNvPr id="25" name="Text 17"/>
          <p:cNvSpPr txBox="1"/>
          <p:nvPr/>
        </p:nvSpPr>
        <p:spPr>
          <a:xfrm>
            <a:off x="5577840" y="5349240"/>
            <a:ext cx="6080760" cy="548640"/>
          </a:xfrm>
          <a:prstGeom prst="rect">
            <a:avLst/>
          </a:prstGeom>
          <a:noFill/>
          <a:ln/>
        </p:spPr>
        <p:txBody>
          <a:bodyPr wrap="square" lIns="0" tIns="0" rIns="0" bIns="0" rtlCol="0" anchor="t"/>
          <a:lstStyle/>
          <a:p>
            <a:pPr indent="0" marL="0">
              <a:buNone/>
            </a:pPr>
            <a:r>
              <a:rPr lang="en-US" sz="1300" dirty="0">
                <a:solidFill>
                  <a:srgbClr val="475A75"/>
                </a:solidFill>
              </a:rPr>
              <a:t>El agente pregunta antes de suponer; la decisión se guarda con /recuerda y la lee en cada turno.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Modelos: por configuración o desde Ajustes</a:t>
            </a:r>
            <a:endParaRPr lang="en-US" sz="3200" dirty="0"/>
          </a:p>
        </p:txBody>
      </p:sp>
      <p:sp>
        <p:nvSpPr>
          <p:cNvPr id="3" name="marco ajustes-claro.png"/>
          <p:cNvSpPr/>
          <p:nvPr/>
        </p:nvSpPr>
        <p:spPr>
          <a:xfrm>
            <a:off x="493776" y="1225296"/>
            <a:ext cx="7333488" cy="4624578"/>
          </a:xfrm>
          <a:prstGeom prst="roundRect">
            <a:avLst>
              <a:gd name="adj" fmla="val 2373"/>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4" name="Image 0" descr="Pantalla de Ajustes con los proveedores, un servidor local detectado y las plantillas">    </p:cNvPr>
          <p:cNvPicPr>
            <a:picLocks noChangeAspect="1"/>
          </p:cNvPicPr>
          <p:nvPr/>
        </p:nvPicPr>
        <p:blipFill>
          <a:blip r:embed="rId1"/>
          <a:stretch>
            <a:fillRect/>
          </a:stretch>
        </p:blipFill>
        <p:spPr>
          <a:xfrm>
            <a:off x="548640" y="1280160"/>
            <a:ext cx="7223760" cy="4514850"/>
          </a:xfrm>
          <a:prstGeom prst="rect">
            <a:avLst/>
          </a:prstGeom>
        </p:spPr>
      </p:pic>
      <p:sp>
        <p:nvSpPr>
          <p:cNvPr id="5" name="icono FiGrid"/>
          <p:cNvSpPr/>
          <p:nvPr/>
        </p:nvSpPr>
        <p:spPr>
          <a:xfrm>
            <a:off x="8092440" y="1280160"/>
            <a:ext cx="566928" cy="566928"/>
          </a:xfrm>
          <a:prstGeom prst="ellipse">
            <a:avLst/>
          </a:prstGeom>
          <a:solidFill>
            <a:srgbClr val="0B57D0"/>
          </a:solidFill>
          <a:ln/>
        </p:spPr>
      </p:sp>
      <p:pic>
        <p:nvPicPr>
          <p:cNvPr id="6" name="Image 1" descr="FiGrid">    </p:cNvPr>
          <p:cNvPicPr>
            <a:picLocks noChangeAspect="1"/>
          </p:cNvPicPr>
          <p:nvPr/>
        </p:nvPicPr>
        <p:blipFill>
          <a:blip r:embed="rId2"/>
          <a:stretch>
            <a:fillRect/>
          </a:stretch>
        </p:blipFill>
        <p:spPr>
          <a:xfrm>
            <a:off x="8228503" y="1416223"/>
            <a:ext cx="294803" cy="294803"/>
          </a:xfrm>
          <a:prstGeom prst="rect">
            <a:avLst/>
          </a:prstGeom>
        </p:spPr>
      </p:pic>
      <p:sp>
        <p:nvSpPr>
          <p:cNvPr id="7" name="Text 3"/>
          <p:cNvSpPr txBox="1"/>
          <p:nvPr/>
        </p:nvSpPr>
        <p:spPr>
          <a:xfrm>
            <a:off x="8823960" y="1261872"/>
            <a:ext cx="2834640" cy="329184"/>
          </a:xfrm>
          <a:prstGeom prst="rect">
            <a:avLst/>
          </a:prstGeom>
          <a:noFill/>
          <a:ln/>
        </p:spPr>
        <p:txBody>
          <a:bodyPr wrap="square" lIns="0" tIns="0" rIns="0" bIns="0" rtlCol="0" anchor="t"/>
          <a:lstStyle/>
          <a:p>
            <a:pPr indent="0" marL="0">
              <a:buNone/>
            </a:pPr>
            <a:r>
              <a:rPr lang="en-US" sz="1500" b="1" dirty="0">
                <a:solidFill>
                  <a:schemeClr val="tx1"/>
                </a:solidFill>
              </a:rPr>
              <a:t>8 plantillas y «Otro»</a:t>
            </a:r>
            <a:endParaRPr lang="en-US" sz="1500" dirty="0"/>
          </a:p>
        </p:txBody>
      </p:sp>
      <p:sp>
        <p:nvSpPr>
          <p:cNvPr id="8" name="Text 4"/>
          <p:cNvSpPr txBox="1"/>
          <p:nvPr/>
        </p:nvSpPr>
        <p:spPr>
          <a:xfrm>
            <a:off x="8823960" y="1591056"/>
            <a:ext cx="2834640" cy="640080"/>
          </a:xfrm>
          <a:prstGeom prst="rect">
            <a:avLst/>
          </a:prstGeom>
          <a:noFill/>
          <a:ln/>
        </p:spPr>
        <p:txBody>
          <a:bodyPr wrap="square" lIns="0" tIns="0" rIns="0" bIns="0" rtlCol="0" anchor="t"/>
          <a:lstStyle/>
          <a:p>
            <a:pPr indent="0" marL="0">
              <a:buNone/>
            </a:pPr>
            <a:r>
              <a:rPr lang="en-US" sz="1150" dirty="0">
                <a:solidFill>
                  <a:srgbClr val="475A75"/>
                </a:solidFill>
              </a:rPr>
              <a:t>Anthropic, Gemini, OpenAI, OpenRouter, Ollama, LM Studio, vLLM, LiteLLM o cualquier URL compatible</a:t>
            </a:r>
            <a:endParaRPr lang="en-US" sz="1150" dirty="0"/>
          </a:p>
        </p:txBody>
      </p:sp>
      <p:sp>
        <p:nvSpPr>
          <p:cNvPr id="9" name="icono FiZap"/>
          <p:cNvSpPr/>
          <p:nvPr/>
        </p:nvSpPr>
        <p:spPr>
          <a:xfrm>
            <a:off x="8092440" y="2240280"/>
            <a:ext cx="566928" cy="566928"/>
          </a:xfrm>
          <a:prstGeom prst="ellipse">
            <a:avLst/>
          </a:prstGeom>
          <a:solidFill>
            <a:srgbClr val="0B57D0"/>
          </a:solidFill>
          <a:ln/>
        </p:spPr>
      </p:sp>
      <p:pic>
        <p:nvPicPr>
          <p:cNvPr id="10" name="Image 2" descr="FiZap">    </p:cNvPr>
          <p:cNvPicPr>
            <a:picLocks noChangeAspect="1"/>
          </p:cNvPicPr>
          <p:nvPr/>
        </p:nvPicPr>
        <p:blipFill>
          <a:blip r:embed="rId3"/>
          <a:stretch>
            <a:fillRect/>
          </a:stretch>
        </p:blipFill>
        <p:spPr>
          <a:xfrm>
            <a:off x="8228503" y="2376343"/>
            <a:ext cx="294803" cy="294803"/>
          </a:xfrm>
          <a:prstGeom prst="rect">
            <a:avLst/>
          </a:prstGeom>
        </p:spPr>
      </p:pic>
      <p:sp>
        <p:nvSpPr>
          <p:cNvPr id="11" name="Text 6"/>
          <p:cNvSpPr txBox="1"/>
          <p:nvPr/>
        </p:nvSpPr>
        <p:spPr>
          <a:xfrm>
            <a:off x="8823960" y="2221992"/>
            <a:ext cx="2834640" cy="329184"/>
          </a:xfrm>
          <a:prstGeom prst="rect">
            <a:avLst/>
          </a:prstGeom>
          <a:noFill/>
          <a:ln/>
        </p:spPr>
        <p:txBody>
          <a:bodyPr wrap="square" lIns="0" tIns="0" rIns="0" bIns="0" rtlCol="0" anchor="t"/>
          <a:lstStyle/>
          <a:p>
            <a:pPr indent="0" marL="0">
              <a:buNone/>
            </a:pPr>
            <a:r>
              <a:rPr lang="en-US" sz="1500" b="1" dirty="0">
                <a:solidFill>
                  <a:schemeClr val="tx1"/>
                </a:solidFill>
              </a:rPr>
              <a:t>Probar conexión</a:t>
            </a:r>
            <a:endParaRPr lang="en-US" sz="1500" dirty="0"/>
          </a:p>
        </p:txBody>
      </p:sp>
      <p:sp>
        <p:nvSpPr>
          <p:cNvPr id="12" name="Text 7"/>
          <p:cNvSpPr txBox="1"/>
          <p:nvPr/>
        </p:nvSpPr>
        <p:spPr>
          <a:xfrm>
            <a:off x="8823960" y="2551176"/>
            <a:ext cx="2834640" cy="640080"/>
          </a:xfrm>
          <a:prstGeom prst="rect">
            <a:avLst/>
          </a:prstGeom>
          <a:noFill/>
          <a:ln/>
        </p:spPr>
        <p:txBody>
          <a:bodyPr wrap="square" lIns="0" tIns="0" rIns="0" bIns="0" rtlCol="0" anchor="t"/>
          <a:lstStyle/>
          <a:p>
            <a:pPr indent="0" marL="0">
              <a:buNone/>
            </a:pPr>
            <a:r>
              <a:rPr lang="en-US" sz="1150" dirty="0">
                <a:solidFill>
                  <a:srgbClr val="475A75"/>
                </a:solidFill>
              </a:rPr>
              <a:t>lista los modelos de esa URL; un clic elige uno</a:t>
            </a:r>
            <a:endParaRPr lang="en-US" sz="1150" dirty="0"/>
          </a:p>
        </p:txBody>
      </p:sp>
      <p:sp>
        <p:nvSpPr>
          <p:cNvPr id="13" name="icono FiSearch"/>
          <p:cNvSpPr/>
          <p:nvPr/>
        </p:nvSpPr>
        <p:spPr>
          <a:xfrm>
            <a:off x="8092440" y="3200400"/>
            <a:ext cx="566928" cy="566928"/>
          </a:xfrm>
          <a:prstGeom prst="ellipse">
            <a:avLst/>
          </a:prstGeom>
          <a:solidFill>
            <a:srgbClr val="0B57D0"/>
          </a:solidFill>
          <a:ln/>
        </p:spPr>
      </p:sp>
      <p:pic>
        <p:nvPicPr>
          <p:cNvPr id="14" name="Image 3" descr="FiSearch">    </p:cNvPr>
          <p:cNvPicPr>
            <a:picLocks noChangeAspect="1"/>
          </p:cNvPicPr>
          <p:nvPr/>
        </p:nvPicPr>
        <p:blipFill>
          <a:blip r:embed="rId4"/>
          <a:stretch>
            <a:fillRect/>
          </a:stretch>
        </p:blipFill>
        <p:spPr>
          <a:xfrm>
            <a:off x="8228503" y="3336463"/>
            <a:ext cx="294803" cy="294803"/>
          </a:xfrm>
          <a:prstGeom prst="rect">
            <a:avLst/>
          </a:prstGeom>
        </p:spPr>
      </p:pic>
      <p:sp>
        <p:nvSpPr>
          <p:cNvPr id="15" name="Text 9"/>
          <p:cNvSpPr txBox="1"/>
          <p:nvPr/>
        </p:nvSpPr>
        <p:spPr>
          <a:xfrm>
            <a:off x="8823960" y="3182112"/>
            <a:ext cx="2834640" cy="329184"/>
          </a:xfrm>
          <a:prstGeom prst="rect">
            <a:avLst/>
          </a:prstGeom>
          <a:noFill/>
          <a:ln/>
        </p:spPr>
        <p:txBody>
          <a:bodyPr wrap="square" lIns="0" tIns="0" rIns="0" bIns="0" rtlCol="0" anchor="t"/>
          <a:lstStyle/>
          <a:p>
            <a:pPr indent="0" marL="0">
              <a:buNone/>
            </a:pPr>
            <a:r>
              <a:rPr lang="en-US" sz="1500" b="1" dirty="0">
                <a:solidFill>
                  <a:schemeClr val="tx1"/>
                </a:solidFill>
              </a:rPr>
              <a:t>Detecta lo local</a:t>
            </a:r>
            <a:endParaRPr lang="en-US" sz="1500" dirty="0"/>
          </a:p>
        </p:txBody>
      </p:sp>
      <p:sp>
        <p:nvSpPr>
          <p:cNvPr id="16" name="Text 10"/>
          <p:cNvSpPr txBox="1"/>
          <p:nvPr/>
        </p:nvSpPr>
        <p:spPr>
          <a:xfrm>
            <a:off x="8823960" y="3511296"/>
            <a:ext cx="2834640" cy="640080"/>
          </a:xfrm>
          <a:prstGeom prst="rect">
            <a:avLst/>
          </a:prstGeom>
          <a:noFill/>
          <a:ln/>
        </p:spPr>
        <p:txBody>
          <a:bodyPr wrap="square" lIns="0" tIns="0" rIns="0" bIns="0" rtlCol="0" anchor="t"/>
          <a:lstStyle/>
          <a:p>
            <a:pPr indent="0" marL="0">
              <a:buNone/>
            </a:pPr>
            <a:r>
              <a:rPr lang="en-US" sz="1150" dirty="0">
                <a:solidFill>
                  <a:srgbClr val="475A75"/>
                </a:solidFill>
              </a:rPr>
              <a:t>Ollama, LM Studio y vLLM en tu equipo</a:t>
            </a:r>
            <a:endParaRPr lang="en-US" sz="1150" dirty="0"/>
          </a:p>
        </p:txBody>
      </p:sp>
      <p:sp>
        <p:nvSpPr>
          <p:cNvPr id="17" name="icono FiKey"/>
          <p:cNvSpPr/>
          <p:nvPr/>
        </p:nvSpPr>
        <p:spPr>
          <a:xfrm>
            <a:off x="8092440" y="4160520"/>
            <a:ext cx="566928" cy="566928"/>
          </a:xfrm>
          <a:prstGeom prst="ellipse">
            <a:avLst/>
          </a:prstGeom>
          <a:solidFill>
            <a:srgbClr val="0B57D0"/>
          </a:solidFill>
          <a:ln/>
        </p:spPr>
      </p:sp>
      <p:pic>
        <p:nvPicPr>
          <p:cNvPr id="18" name="Image 4" descr="FiKey">    </p:cNvPr>
          <p:cNvPicPr>
            <a:picLocks noChangeAspect="1"/>
          </p:cNvPicPr>
          <p:nvPr/>
        </p:nvPicPr>
        <p:blipFill>
          <a:blip r:embed="rId5"/>
          <a:stretch>
            <a:fillRect/>
          </a:stretch>
        </p:blipFill>
        <p:spPr>
          <a:xfrm>
            <a:off x="8228503" y="4296583"/>
            <a:ext cx="294803" cy="294803"/>
          </a:xfrm>
          <a:prstGeom prst="rect">
            <a:avLst/>
          </a:prstGeom>
        </p:spPr>
      </p:pic>
      <p:sp>
        <p:nvSpPr>
          <p:cNvPr id="19" name="Text 12"/>
          <p:cNvSpPr txBox="1"/>
          <p:nvPr/>
        </p:nvSpPr>
        <p:spPr>
          <a:xfrm>
            <a:off x="8823960" y="4142232"/>
            <a:ext cx="2834640" cy="329184"/>
          </a:xfrm>
          <a:prstGeom prst="rect">
            <a:avLst/>
          </a:prstGeom>
          <a:noFill/>
          <a:ln/>
        </p:spPr>
        <p:txBody>
          <a:bodyPr wrap="square" lIns="0" tIns="0" rIns="0" bIns="0" rtlCol="0" anchor="t"/>
          <a:lstStyle/>
          <a:p>
            <a:pPr indent="0" marL="0">
              <a:buNone/>
            </a:pPr>
            <a:r>
              <a:rPr lang="en-US" sz="1500" b="1" dirty="0">
                <a:solidFill>
                  <a:schemeClr val="tx1"/>
                </a:solidFill>
              </a:rPr>
              <a:t>Claves en variables</a:t>
            </a:r>
            <a:endParaRPr lang="en-US" sz="1500" dirty="0"/>
          </a:p>
        </p:txBody>
      </p:sp>
      <p:sp>
        <p:nvSpPr>
          <p:cNvPr id="20" name="Text 13"/>
          <p:cNvSpPr txBox="1"/>
          <p:nvPr/>
        </p:nvSpPr>
        <p:spPr>
          <a:xfrm>
            <a:off x="8823960" y="4471416"/>
            <a:ext cx="2834640" cy="640080"/>
          </a:xfrm>
          <a:prstGeom prst="rect">
            <a:avLst/>
          </a:prstGeom>
          <a:noFill/>
          <a:ln/>
        </p:spPr>
        <p:txBody>
          <a:bodyPr wrap="square" lIns="0" tIns="0" rIns="0" bIns="0" rtlCol="0" anchor="t"/>
          <a:lstStyle/>
          <a:p>
            <a:pPr indent="0" marL="0">
              <a:buNone/>
            </a:pPr>
            <a:r>
              <a:rPr lang="en-US" sz="1150" dirty="0">
                <a:solidFill>
                  <a:srgbClr val="475A75"/>
                </a:solidFill>
              </a:rPr>
              <a:t>se guarda el nombre (OPENROUTER_API_KEY), nunca la clave</a:t>
            </a:r>
            <a:endParaRPr lang="en-US" sz="1150" dirty="0"/>
          </a:p>
        </p:txBody>
      </p:sp>
      <p:sp>
        <p:nvSpPr>
          <p:cNvPr id="21" name="código"/>
          <p:cNvSpPr/>
          <p:nvPr/>
        </p:nvSpPr>
        <p:spPr>
          <a:xfrm>
            <a:off x="8092440" y="5257800"/>
            <a:ext cx="3566160" cy="438912"/>
          </a:xfrm>
          <a:prstGeom prst="roundRect">
            <a:avLst>
              <a:gd name="adj" fmla="val 20833"/>
            </a:avLst>
          </a:prstGeom>
          <a:solidFill>
            <a:srgbClr val="0F1D33"/>
          </a:solidFill>
          <a:ln/>
        </p:spPr>
      </p:sp>
      <p:sp>
        <p:nvSpPr>
          <p:cNvPr id="22" name="Text 15"/>
          <p:cNvSpPr txBox="1"/>
          <p:nvPr/>
        </p:nvSpPr>
        <p:spPr>
          <a:xfrm>
            <a:off x="8257032" y="5257800"/>
            <a:ext cx="3236976" cy="438912"/>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config proveedor ollama</a:t>
            </a:r>
            <a:endParaRPr lang="en-US" sz="1100" dirty="0"/>
          </a:p>
        </p:txBody>
      </p:sp>
      <p:sp>
        <p:nvSpPr>
          <p:cNvPr id="23" name="código"/>
          <p:cNvSpPr/>
          <p:nvPr/>
        </p:nvSpPr>
        <p:spPr>
          <a:xfrm>
            <a:off x="8092440" y="5760720"/>
            <a:ext cx="3566160" cy="438912"/>
          </a:xfrm>
          <a:prstGeom prst="roundRect">
            <a:avLst>
              <a:gd name="adj" fmla="val 20833"/>
            </a:avLst>
          </a:prstGeom>
          <a:solidFill>
            <a:srgbClr val="0F1D33"/>
          </a:solidFill>
          <a:ln/>
        </p:spPr>
      </p:sp>
      <p:sp>
        <p:nvSpPr>
          <p:cNvPr id="24" name="Text 17"/>
          <p:cNvSpPr txBox="1"/>
          <p:nvPr/>
        </p:nvSpPr>
        <p:spPr>
          <a:xfrm>
            <a:off x="8257032" y="5760720"/>
            <a:ext cx="3236976" cy="438912"/>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config proveedores --probar</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Basado en investigación, no en intuiciones</a:t>
            </a:r>
            <a:endParaRPr lang="en-US" sz="3200" dirty="0"/>
          </a:p>
        </p:txBody>
      </p:sp>
      <p:sp>
        <p:nvSpPr>
          <p:cNvPr id="3" name="cifra 10.341"/>
          <p:cNvSpPr/>
          <p:nvPr/>
        </p:nvSpPr>
        <p:spPr>
          <a:xfrm>
            <a:off x="548640" y="1325880"/>
            <a:ext cx="3931920" cy="1371600"/>
          </a:xfrm>
          <a:prstGeom prst="roundRect">
            <a:avLst>
              <a:gd name="adj" fmla="val 12000"/>
            </a:avLst>
          </a:prstGeom>
          <a:solidFill>
            <a:schemeClr val="bg2"/>
          </a:solidFill>
          <a:ln/>
          <a:effectLst>
            <a:outerShdw sx="100000" sy="100000" kx="0" ky="0" algn="bl" rotWithShape="0" blurRad="127000" dist="38100" dir="5400000">
              <a:srgbClr val="0B1B33">
                <a:alpha val="16000"/>
              </a:srgbClr>
            </a:outerShdw>
          </a:effectLst>
        </p:spPr>
      </p:sp>
      <p:sp>
        <p:nvSpPr>
          <p:cNvPr id="4" name="Text 2"/>
          <p:cNvSpPr txBox="1"/>
          <p:nvPr/>
        </p:nvSpPr>
        <p:spPr>
          <a:xfrm>
            <a:off x="822960" y="1463040"/>
            <a:ext cx="3474720" cy="685800"/>
          </a:xfrm>
          <a:prstGeom prst="rect">
            <a:avLst/>
          </a:prstGeom>
          <a:noFill/>
          <a:ln/>
        </p:spPr>
        <p:txBody>
          <a:bodyPr wrap="square" lIns="0" tIns="0" rIns="0" bIns="0" rtlCol="0" anchor="t"/>
          <a:lstStyle/>
          <a:p>
            <a:pPr indent="0" marL="0">
              <a:buNone/>
            </a:pPr>
            <a:r>
              <a:rPr lang="en-US" sz="4000" b="1" dirty="0">
                <a:solidFill>
                  <a:srgbClr val="0B57D0"/>
                </a:solidFill>
                <a:latin typeface="Arial" pitchFamily="34" charset="0"/>
                <a:ea typeface="Arial" pitchFamily="34" charset="-122"/>
                <a:cs typeface="Arial" pitchFamily="34" charset="-120"/>
              </a:rPr>
              <a:t>10.341</a:t>
            </a:r>
            <a:endParaRPr lang="en-US" sz="4000" dirty="0"/>
          </a:p>
        </p:txBody>
      </p:sp>
      <p:sp>
        <p:nvSpPr>
          <p:cNvPr id="5" name="Text 3"/>
          <p:cNvSpPr txBox="1"/>
          <p:nvPr/>
        </p:nvSpPr>
        <p:spPr>
          <a:xfrm>
            <a:off x="822960" y="2148840"/>
            <a:ext cx="3474720" cy="457200"/>
          </a:xfrm>
          <a:prstGeom prst="rect">
            <a:avLst/>
          </a:prstGeom>
          <a:noFill/>
          <a:ln/>
        </p:spPr>
        <p:txBody>
          <a:bodyPr wrap="square" lIns="0" tIns="0" rIns="0" bIns="0" rtlCol="0" anchor="t"/>
          <a:lstStyle/>
          <a:p>
            <a:pPr indent="0" marL="0">
              <a:buNone/>
            </a:pPr>
            <a:r>
              <a:rPr lang="en-US" sz="1250" dirty="0">
                <a:solidFill>
                  <a:srgbClr val="475A75"/>
                </a:solidFill>
              </a:rPr>
              <a:t>papers de ACL y EMNLP 2026 analizados con sus resúmenes</a:t>
            </a:r>
            <a:endParaRPr lang="en-US" sz="1250" dirty="0"/>
          </a:p>
        </p:txBody>
      </p:sp>
      <p:sp>
        <p:nvSpPr>
          <p:cNvPr id="6" name="cifra 1.189"/>
          <p:cNvSpPr/>
          <p:nvPr/>
        </p:nvSpPr>
        <p:spPr>
          <a:xfrm>
            <a:off x="548640" y="2926080"/>
            <a:ext cx="3931920" cy="1371600"/>
          </a:xfrm>
          <a:prstGeom prst="roundRect">
            <a:avLst>
              <a:gd name="adj" fmla="val 12000"/>
            </a:avLst>
          </a:prstGeom>
          <a:solidFill>
            <a:schemeClr val="bg2"/>
          </a:solidFill>
          <a:ln/>
          <a:effectLst>
            <a:outerShdw sx="100000" sy="100000" kx="0" ky="0" algn="bl" rotWithShape="0" blurRad="127000" dist="38100" dir="5400000">
              <a:srgbClr val="0B1B33">
                <a:alpha val="16000"/>
              </a:srgbClr>
            </a:outerShdw>
          </a:effectLst>
        </p:spPr>
      </p:sp>
      <p:sp>
        <p:nvSpPr>
          <p:cNvPr id="7" name="Text 5"/>
          <p:cNvSpPr txBox="1"/>
          <p:nvPr/>
        </p:nvSpPr>
        <p:spPr>
          <a:xfrm>
            <a:off x="822960" y="3063240"/>
            <a:ext cx="3474720" cy="685800"/>
          </a:xfrm>
          <a:prstGeom prst="rect">
            <a:avLst/>
          </a:prstGeom>
          <a:noFill/>
          <a:ln/>
        </p:spPr>
        <p:txBody>
          <a:bodyPr wrap="square" lIns="0" tIns="0" rIns="0" bIns="0" rtlCol="0" anchor="t"/>
          <a:lstStyle/>
          <a:p>
            <a:pPr indent="0" marL="0">
              <a:buNone/>
            </a:pPr>
            <a:r>
              <a:rPr lang="en-US" sz="4000" b="1" dirty="0">
                <a:solidFill>
                  <a:srgbClr val="0B57D0"/>
                </a:solidFill>
                <a:latin typeface="Arial" pitchFamily="34" charset="0"/>
                <a:ea typeface="Arial" pitchFamily="34" charset="-122"/>
                <a:cs typeface="Arial" pitchFamily="34" charset="-120"/>
              </a:rPr>
              <a:t>1.189</a:t>
            </a:r>
            <a:endParaRPr lang="en-US" sz="4000" dirty="0"/>
          </a:p>
        </p:txBody>
      </p:sp>
      <p:sp>
        <p:nvSpPr>
          <p:cNvPr id="8" name="Text 6"/>
          <p:cNvSpPr txBox="1"/>
          <p:nvPr/>
        </p:nvSpPr>
        <p:spPr>
          <a:xfrm>
            <a:off x="822960" y="3749040"/>
            <a:ext cx="3474720" cy="457200"/>
          </a:xfrm>
          <a:prstGeom prst="rect">
            <a:avLst/>
          </a:prstGeom>
          <a:noFill/>
          <a:ln/>
        </p:spPr>
        <p:txBody>
          <a:bodyPr wrap="square" lIns="0" tIns="0" rIns="0" bIns="0" rtlCol="0" anchor="t"/>
          <a:lstStyle/>
          <a:p>
            <a:pPr indent="0" marL="0">
              <a:buNone/>
            </a:pPr>
            <a:r>
              <a:rPr lang="en-US" sz="1250" dirty="0">
                <a:solidFill>
                  <a:srgbClr val="475A75"/>
                </a:solidFill>
              </a:rPr>
              <a:t>candidatos relevantes para agentes de código</a:t>
            </a:r>
            <a:endParaRPr lang="en-US" sz="1250" dirty="0"/>
          </a:p>
        </p:txBody>
      </p:sp>
      <p:sp>
        <p:nvSpPr>
          <p:cNvPr id="9" name="cifra 25+"/>
          <p:cNvSpPr/>
          <p:nvPr/>
        </p:nvSpPr>
        <p:spPr>
          <a:xfrm>
            <a:off x="548640" y="4526280"/>
            <a:ext cx="3931920" cy="1371600"/>
          </a:xfrm>
          <a:prstGeom prst="roundRect">
            <a:avLst>
              <a:gd name="adj" fmla="val 12000"/>
            </a:avLst>
          </a:prstGeom>
          <a:solidFill>
            <a:srgbClr val="0F1D33"/>
          </a:solidFill>
          <a:ln/>
          <a:effectLst>
            <a:outerShdw sx="100000" sy="100000" kx="0" ky="0" algn="bl" rotWithShape="0" blurRad="127000" dist="38100" dir="5400000">
              <a:srgbClr val="0B1B33">
                <a:alpha val="16000"/>
              </a:srgbClr>
            </a:outerShdw>
          </a:effectLst>
        </p:spPr>
      </p:sp>
      <p:sp>
        <p:nvSpPr>
          <p:cNvPr id="10" name="Text 8"/>
          <p:cNvSpPr txBox="1"/>
          <p:nvPr/>
        </p:nvSpPr>
        <p:spPr>
          <a:xfrm>
            <a:off x="822960" y="4663440"/>
            <a:ext cx="3474720" cy="685800"/>
          </a:xfrm>
          <a:prstGeom prst="rect">
            <a:avLst/>
          </a:prstGeom>
          <a:noFill/>
          <a:ln/>
        </p:spPr>
        <p:txBody>
          <a:bodyPr wrap="square" lIns="0" tIns="0" rIns="0" bIns="0" rtlCol="0" anchor="t"/>
          <a:lstStyle/>
          <a:p>
            <a:pPr indent="0" marL="0">
              <a:buNone/>
            </a:pPr>
            <a:r>
              <a:rPr lang="en-US" sz="4000" b="1" dirty="0">
                <a:solidFill>
                  <a:srgbClr val="8AB4F8"/>
                </a:solidFill>
                <a:latin typeface="Arial" pitchFamily="34" charset="0"/>
                <a:ea typeface="Arial" pitchFamily="34" charset="-122"/>
                <a:cs typeface="Arial" pitchFamily="34" charset="-120"/>
              </a:rPr>
              <a:t>25+</a:t>
            </a:r>
            <a:endParaRPr lang="en-US" sz="4000" dirty="0"/>
          </a:p>
        </p:txBody>
      </p:sp>
      <p:sp>
        <p:nvSpPr>
          <p:cNvPr id="11" name="Text 9"/>
          <p:cNvSpPr txBox="1"/>
          <p:nvPr/>
        </p:nvSpPr>
        <p:spPr>
          <a:xfrm>
            <a:off x="822960" y="5349240"/>
            <a:ext cx="3474720" cy="457200"/>
          </a:xfrm>
          <a:prstGeom prst="rect">
            <a:avLst/>
          </a:prstGeom>
          <a:noFill/>
          <a:ln/>
        </p:spPr>
        <p:txBody>
          <a:bodyPr wrap="square" lIns="0" tIns="0" rIns="0" bIns="0" rtlCol="0" anchor="t"/>
          <a:lstStyle/>
          <a:p>
            <a:pPr indent="0" marL="0">
              <a:buNone/>
            </a:pPr>
            <a:r>
              <a:rPr lang="en-US" sz="1250" dirty="0">
                <a:solidFill>
                  <a:srgbClr val="CFE0FB"/>
                </a:solidFill>
              </a:rPr>
              <a:t>funciones de PublicCode con su paper detrás</a:t>
            </a:r>
            <a:endParaRPr lang="en-US" sz="1250" dirty="0"/>
          </a:p>
        </p:txBody>
      </p:sp>
      <p:graphicFrame>
        <p:nvGraphicFramePr>
          <p:cNvPr id="16" name="tabla papers"/>
          <p:cNvGraphicFramePr>
            <a:graphicFrameLocks noGrp="1"/>
          </p:cNvGraphicFramePr>
          <p:nvPr>
            <p:extLst>
              <p:ext uri="{D42A27DB-BD31-4B8C-83A1-F6EECF244321}">
                <p14:modId xmlns:p14="http://schemas.microsoft.com/office/powerpoint/2010/main" val="1579011935"/>
              </p:ext>
            </p:extLst>
          </p:nvPr>
        </p:nvGraphicFramePr>
        <p:xfrm>
          <a:off x="4846320" y="1325880"/>
          <a:ext cx="6812280" cy="914400"/>
        </p:xfrm>
        <a:graphic>
          <a:graphicData uri="http://schemas.openxmlformats.org/drawingml/2006/table">
            <a:tbl>
              <a:tblPr/>
              <a:tblGrid>
                <a:gridCol w="2971800"/>
                <a:gridCol w="3840480"/>
              </a:tblGrid>
              <a:tr h="548640">
                <a:tc>
                  <a:txBody>
                    <a:bodyPr/>
                    <a:lstStyle/>
                    <a:p>
                      <a:pPr algn="ctr" indent="0" marL="0">
                        <a:buNone/>
                      </a:pPr>
                      <a:r>
                        <a:rPr lang="en-US" sz="1300" b="1" dirty="0">
                          <a:solidFill>
                            <a:srgbClr val="FFFFFF"/>
                          </a:solidFill>
                        </a:rPr>
                        <a:t>Paper</a:t>
                      </a:r>
                      <a:endParaRPr lang="en-US" sz="130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Qué cambia en PublicCode</a:t>
                      </a:r>
                      <a:endParaRPr lang="en-US" sz="130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r>
              <a:tr h="548640">
                <a:tc>
                  <a:txBody>
                    <a:bodyPr/>
                    <a:lstStyle/>
                    <a:p>
                      <a:pPr indent="0" marL="0">
                        <a:buNone/>
                      </a:pPr>
                      <a:r>
                        <a:rPr lang="en-US" sz="1250" dirty="0">
                          <a:solidFill>
                            <a:srgbClr val="0B1B33"/>
                          </a:solidFill>
                        </a:rPr>
                        <a:t>SHERLOC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 Arreglar con diagnóstico estructurado</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HierDiff (Findings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 Generar el mensaje de commit</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RepoNav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esquema, migas de pan y tool esquema del agente</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Ask or Assume? (Findings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preguntas de aclaración con presupuesto</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SLUMP (Findings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memoria del proyecto que sobrevive a la compactación</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When Models Edit Too Much (EMNLP)</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ediciones mínimas</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0B1B33"/>
                          </a:solidFill>
                        </a:rPr>
                        <a:t>ProMCP (Findings ACL)</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indent="0" marL="0">
                        <a:buNone/>
                      </a:pPr>
                      <a:r>
                        <a:rPr lang="en-US" sz="1250" dirty="0">
                          <a:solidFill>
                            <a:srgbClr val="0B1B33"/>
                          </a:solidFill>
                        </a:rPr>
                        <a:t>coste de los esquemas MCP a la vista</a:t>
                      </a:r>
                      <a:endParaRPr lang="en-US" sz="1250" dirty="0"/>
                    </a:p>
                  </a:txBody>
                  <a:tcPr marL="91440" marR="91440" marT="91440" marB="91440"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4846320" y="5897880"/>
            <a:ext cx="6812280" cy="320040"/>
          </a:xfrm>
          <a:prstGeom prst="rect">
            <a:avLst/>
          </a:prstGeom>
          <a:noFill/>
          <a:ln/>
        </p:spPr>
        <p:txBody>
          <a:bodyPr wrap="square" lIns="0" tIns="0" rIns="0" bIns="0" rtlCol="0" anchor="t"/>
          <a:lstStyle/>
          <a:p>
            <a:pPr indent="0" marL="0">
              <a:buNone/>
            </a:pPr>
            <a:r>
              <a:rPr lang="en-US" sz="1200" i="1" dirty="0">
                <a:solidFill>
                  <a:srgbClr val="475A75"/>
                </a:solidFill>
              </a:rPr>
              <a:t>Lista completa, con enlaces a la ACL Anthology: docs/papers.md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731520" y="2148840"/>
            <a:ext cx="8229600" cy="457200"/>
          </a:xfrm>
          <a:prstGeom prst="rect">
            <a:avLst/>
          </a:prstGeom>
          <a:noFill/>
          <a:ln/>
        </p:spPr>
        <p:txBody>
          <a:bodyPr wrap="square" rtlCol="0"/>
          <a:lstStyle/>
          <a:p>
            <a:pPr indent="0" marL="0">
              <a:buNone/>
            </a:pPr>
            <a:r>
              <a:rPr lang="en-US" sz="1600" b="1" spc="300" kern="0" dirty="0">
                <a:solidFill>
                  <a:schemeClr val="accent3"/>
                </a:solidFill>
              </a:rPr>
              <a:t>CÓMO EMPEZAR</a:t>
            </a:r>
            <a:endParaRPr lang="en-US" sz="1600" dirty="0"/>
          </a:p>
        </p:txBody>
      </p:sp>
      <p:sp>
        <p:nvSpPr>
          <p:cNvPr id="3" name="Text 0"/>
          <p:cNvSpPr/>
          <p:nvPr>
            <p:ph idx="101" type="title" hasCustomPrompt="1"/>
          </p:nvPr>
        </p:nvSpPr>
        <p:spPr>
          <a:xfrm>
            <a:off x="731520" y="2606040"/>
            <a:ext cx="10515600" cy="1188720"/>
          </a:xfrm>
          <a:prstGeom prst="rect">
            <a:avLst/>
          </a:prstGeom>
          <a:noFill/>
          <a:ln/>
        </p:spPr>
        <p:txBody>
          <a:bodyPr wrap="square" rtlCol="0"/>
          <a:lstStyle/>
          <a:p>
            <a:pPr algn="l" indent="0" marL="0">
              <a:buNone/>
            </a:pPr>
            <a:r>
              <a:rPr lang="en-US" sz="4400" b="1" dirty="0">
                <a:solidFill>
                  <a:schemeClr val="bg1"/>
                </a:solidFill>
              </a:rPr>
              <a:t>Instalado en un minuto</a:t>
            </a:r>
            <a:endParaRPr lang="en-US" sz="4400" dirty="0"/>
          </a:p>
        </p:txBody>
      </p:sp>
      <p:sp>
        <p:nvSpPr>
          <p:cNvPr id="4" name="Text 0"/>
          <p:cNvSpPr/>
          <p:nvPr>
            <p:ph idx="102" type="body" hasCustomPrompt="1"/>
          </p:nvPr>
        </p:nvSpPr>
        <p:spPr>
          <a:xfrm>
            <a:off x="731520" y="3840480"/>
            <a:ext cx="9601200" cy="914400"/>
          </a:xfrm>
          <a:prstGeom prst="rect">
            <a:avLst/>
          </a:prstGeom>
          <a:noFill/>
          <a:ln/>
        </p:spPr>
        <p:txBody>
          <a:bodyPr wrap="square" rtlCol="0"/>
          <a:lstStyle/>
          <a:p>
            <a:pPr indent="0" marL="0">
              <a:buNone/>
            </a:pPr>
            <a:r>
              <a:rPr lang="en-US" sz="1800" dirty="0">
                <a:solidFill>
                  <a:srgbClr val="CFE0FB"/>
                </a:solidFill>
              </a:rPr>
              <a:t>Por usuario, sin administrador, con la suma SHA-256 comprobada. En Linux y en Windows.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Instalar en tres pasos</a:t>
            </a:r>
            <a:endParaRPr lang="en-US" sz="3200" dirty="0"/>
          </a:p>
        </p:txBody>
      </p:sp>
      <p:sp>
        <p:nvSpPr>
          <p:cNvPr id="3" name="paso Instala"/>
          <p:cNvSpPr/>
          <p:nvPr/>
        </p:nvSpPr>
        <p:spPr>
          <a:xfrm>
            <a:off x="548640" y="1280160"/>
            <a:ext cx="3611880" cy="4206240"/>
          </a:xfrm>
          <a:prstGeom prst="roundRect">
            <a:avLst>
              <a:gd name="adj" fmla="val 4557"/>
            </a:avLst>
          </a:prstGeom>
          <a:solidFill>
            <a:schemeClr val="bg2"/>
          </a:solidFill>
          <a:ln/>
          <a:effectLst>
            <a:outerShdw sx="100000" sy="100000" kx="0" ky="0" algn="bl" rotWithShape="0" blurRad="127000" dist="38100" dir="5400000">
              <a:srgbClr val="0B1B33">
                <a:alpha val="16000"/>
              </a:srgbClr>
            </a:outerShdw>
          </a:effectLst>
        </p:spPr>
      </p:sp>
      <p:sp>
        <p:nvSpPr>
          <p:cNvPr id="4" name="número 1"/>
          <p:cNvSpPr/>
          <p:nvPr/>
        </p:nvSpPr>
        <p:spPr>
          <a:xfrm>
            <a:off x="822960" y="1508760"/>
            <a:ext cx="640080" cy="640080"/>
          </a:xfrm>
          <a:prstGeom prst="ellipse">
            <a:avLst/>
          </a:prstGeom>
          <a:solidFill>
            <a:srgbClr val="6F5CFF"/>
          </a:solidFill>
          <a:ln/>
        </p:spPr>
      </p:sp>
      <p:sp>
        <p:nvSpPr>
          <p:cNvPr id="5" name="Text 3"/>
          <p:cNvSpPr txBox="1"/>
          <p:nvPr/>
        </p:nvSpPr>
        <p:spPr>
          <a:xfrm>
            <a:off x="822960" y="1508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pic>
        <p:nvPicPr>
          <p:cNvPr id="6" name="Image 0" descr="Instala">    </p:cNvPr>
          <p:cNvPicPr>
            <a:picLocks noChangeAspect="1"/>
          </p:cNvPicPr>
          <p:nvPr/>
        </p:nvPicPr>
        <p:blipFill>
          <a:blip r:embed="rId1"/>
          <a:stretch>
            <a:fillRect/>
          </a:stretch>
        </p:blipFill>
        <p:spPr>
          <a:xfrm>
            <a:off x="3429000" y="1600200"/>
            <a:ext cx="457200" cy="457200"/>
          </a:xfrm>
          <a:prstGeom prst="rect">
            <a:avLst/>
          </a:prstGeom>
        </p:spPr>
      </p:pic>
      <p:sp>
        <p:nvSpPr>
          <p:cNvPr id="7" name="Text 4"/>
          <p:cNvSpPr txBox="1"/>
          <p:nvPr/>
        </p:nvSpPr>
        <p:spPr>
          <a:xfrm>
            <a:off x="822960" y="23317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Instala</a:t>
            </a:r>
            <a:endParaRPr lang="en-US" sz="2000" dirty="0"/>
          </a:p>
        </p:txBody>
      </p:sp>
      <p:sp>
        <p:nvSpPr>
          <p:cNvPr id="8" name="Text 5"/>
          <p:cNvSpPr txBox="1"/>
          <p:nvPr/>
        </p:nvSpPr>
        <p:spPr>
          <a:xfrm>
            <a:off x="822960" y="2788920"/>
            <a:ext cx="3108960" cy="640080"/>
          </a:xfrm>
          <a:prstGeom prst="rect">
            <a:avLst/>
          </a:prstGeom>
          <a:noFill/>
          <a:ln/>
        </p:spPr>
        <p:txBody>
          <a:bodyPr wrap="square" lIns="0" tIns="0" rIns="0" bIns="0" rtlCol="0" anchor="t"/>
          <a:lstStyle/>
          <a:p>
            <a:pPr indent="0" marL="0">
              <a:buNone/>
            </a:pPr>
            <a:r>
              <a:rPr lang="en-US" sz="1300" dirty="0">
                <a:solidFill>
                  <a:srgbClr val="475A75"/>
                </a:solidFill>
              </a:rPr>
              <a:t>Una línea; deja pcode en el PATH.</a:t>
            </a:r>
            <a:endParaRPr lang="en-US" sz="1300" dirty="0"/>
          </a:p>
        </p:txBody>
      </p:sp>
      <p:sp>
        <p:nvSpPr>
          <p:cNvPr id="9" name="paso Elige el modelo"/>
          <p:cNvSpPr/>
          <p:nvPr/>
        </p:nvSpPr>
        <p:spPr>
          <a:xfrm>
            <a:off x="4343400" y="1280160"/>
            <a:ext cx="3611880" cy="4206240"/>
          </a:xfrm>
          <a:prstGeom prst="roundRect">
            <a:avLst>
              <a:gd name="adj" fmla="val 4557"/>
            </a:avLst>
          </a:prstGeom>
          <a:solidFill>
            <a:schemeClr val="bg2"/>
          </a:solidFill>
          <a:ln/>
          <a:effectLst>
            <a:outerShdw sx="100000" sy="100000" kx="0" ky="0" algn="bl" rotWithShape="0" blurRad="127000" dist="38100" dir="5400000">
              <a:srgbClr val="0B1B33">
                <a:alpha val="16000"/>
              </a:srgbClr>
            </a:outerShdw>
          </a:effectLst>
        </p:spPr>
      </p:sp>
      <p:sp>
        <p:nvSpPr>
          <p:cNvPr id="10" name="número 2"/>
          <p:cNvSpPr/>
          <p:nvPr/>
        </p:nvSpPr>
        <p:spPr>
          <a:xfrm>
            <a:off x="4617720" y="1508760"/>
            <a:ext cx="640080" cy="640080"/>
          </a:xfrm>
          <a:prstGeom prst="ellipse">
            <a:avLst/>
          </a:prstGeom>
          <a:solidFill>
            <a:srgbClr val="6F5CFF"/>
          </a:solidFill>
          <a:ln/>
        </p:spPr>
      </p:sp>
      <p:sp>
        <p:nvSpPr>
          <p:cNvPr id="11" name="Text 8"/>
          <p:cNvSpPr txBox="1"/>
          <p:nvPr/>
        </p:nvSpPr>
        <p:spPr>
          <a:xfrm>
            <a:off x="4617720" y="1508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pic>
        <p:nvPicPr>
          <p:cNvPr id="12" name="Image 1" descr="Elige el modelo">    </p:cNvPr>
          <p:cNvPicPr>
            <a:picLocks noChangeAspect="1"/>
          </p:cNvPicPr>
          <p:nvPr/>
        </p:nvPicPr>
        <p:blipFill>
          <a:blip r:embed="rId2"/>
          <a:stretch>
            <a:fillRect/>
          </a:stretch>
        </p:blipFill>
        <p:spPr>
          <a:xfrm>
            <a:off x="7223760" y="1600200"/>
            <a:ext cx="457200" cy="457200"/>
          </a:xfrm>
          <a:prstGeom prst="rect">
            <a:avLst/>
          </a:prstGeom>
        </p:spPr>
      </p:pic>
      <p:sp>
        <p:nvSpPr>
          <p:cNvPr id="13" name="Text 9"/>
          <p:cNvSpPr txBox="1"/>
          <p:nvPr/>
        </p:nvSpPr>
        <p:spPr>
          <a:xfrm>
            <a:off x="4617720" y="23317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Elige el modelo</a:t>
            </a:r>
            <a:endParaRPr lang="en-US" sz="2000" dirty="0"/>
          </a:p>
        </p:txBody>
      </p:sp>
      <p:sp>
        <p:nvSpPr>
          <p:cNvPr id="14" name="Text 10"/>
          <p:cNvSpPr txBox="1"/>
          <p:nvPr/>
        </p:nvSpPr>
        <p:spPr>
          <a:xfrm>
            <a:off x="4617720" y="2788920"/>
            <a:ext cx="3108960" cy="640080"/>
          </a:xfrm>
          <a:prstGeom prst="rect">
            <a:avLst/>
          </a:prstGeom>
          <a:noFill/>
          <a:ln/>
        </p:spPr>
        <p:txBody>
          <a:bodyPr wrap="square" lIns="0" tIns="0" rIns="0" bIns="0" rtlCol="0" anchor="t"/>
          <a:lstStyle/>
          <a:p>
            <a:pPr indent="0" marL="0">
              <a:buNone/>
            </a:pPr>
            <a:r>
              <a:rPr lang="en-US" sz="1300" dirty="0">
                <a:solidFill>
                  <a:srgbClr val="475A75"/>
                </a:solidFill>
              </a:rPr>
              <a:t>Una variable de entorno con tu clave, o un modelo local con Ajustes.</a:t>
            </a:r>
            <a:endParaRPr lang="en-US" sz="1300" dirty="0"/>
          </a:p>
        </p:txBody>
      </p:sp>
      <p:sp>
        <p:nvSpPr>
          <p:cNvPr id="15" name="paso Abre tu proyecto"/>
          <p:cNvSpPr/>
          <p:nvPr/>
        </p:nvSpPr>
        <p:spPr>
          <a:xfrm>
            <a:off x="8138160" y="1280160"/>
            <a:ext cx="3611880" cy="4206240"/>
          </a:xfrm>
          <a:prstGeom prst="roundRect">
            <a:avLst>
              <a:gd name="adj" fmla="val 4557"/>
            </a:avLst>
          </a:prstGeom>
          <a:solidFill>
            <a:schemeClr val="bg2"/>
          </a:solidFill>
          <a:ln/>
          <a:effectLst>
            <a:outerShdw sx="100000" sy="100000" kx="0" ky="0" algn="bl" rotWithShape="0" blurRad="127000" dist="38100" dir="5400000">
              <a:srgbClr val="0B1B33">
                <a:alpha val="16000"/>
              </a:srgbClr>
            </a:outerShdw>
          </a:effectLst>
        </p:spPr>
      </p:sp>
      <p:sp>
        <p:nvSpPr>
          <p:cNvPr id="16" name="número 3"/>
          <p:cNvSpPr/>
          <p:nvPr/>
        </p:nvSpPr>
        <p:spPr>
          <a:xfrm>
            <a:off x="8412480" y="1508760"/>
            <a:ext cx="640080" cy="640080"/>
          </a:xfrm>
          <a:prstGeom prst="ellipse">
            <a:avLst/>
          </a:prstGeom>
          <a:solidFill>
            <a:srgbClr val="6F5CFF"/>
          </a:solidFill>
          <a:ln/>
        </p:spPr>
      </p:sp>
      <p:sp>
        <p:nvSpPr>
          <p:cNvPr id="17" name="Text 13"/>
          <p:cNvSpPr txBox="1"/>
          <p:nvPr/>
        </p:nvSpPr>
        <p:spPr>
          <a:xfrm>
            <a:off x="8412480" y="15087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pic>
        <p:nvPicPr>
          <p:cNvPr id="18" name="Image 2" descr="Abre tu proyecto">    </p:cNvPr>
          <p:cNvPicPr>
            <a:picLocks noChangeAspect="1"/>
          </p:cNvPicPr>
          <p:nvPr/>
        </p:nvPicPr>
        <p:blipFill>
          <a:blip r:embed="rId3"/>
          <a:stretch>
            <a:fillRect/>
          </a:stretch>
        </p:blipFill>
        <p:spPr>
          <a:xfrm>
            <a:off x="11018520" y="1600200"/>
            <a:ext cx="457200" cy="457200"/>
          </a:xfrm>
          <a:prstGeom prst="rect">
            <a:avLst/>
          </a:prstGeom>
        </p:spPr>
      </p:pic>
      <p:sp>
        <p:nvSpPr>
          <p:cNvPr id="19" name="Text 14"/>
          <p:cNvSpPr txBox="1"/>
          <p:nvPr/>
        </p:nvSpPr>
        <p:spPr>
          <a:xfrm>
            <a:off x="8412480" y="2331720"/>
            <a:ext cx="3108960" cy="411480"/>
          </a:xfrm>
          <a:prstGeom prst="rect">
            <a:avLst/>
          </a:prstGeom>
          <a:noFill/>
          <a:ln/>
        </p:spPr>
        <p:txBody>
          <a:bodyPr wrap="square" lIns="0" tIns="0" rIns="0" bIns="0" rtlCol="0" anchor="t"/>
          <a:lstStyle/>
          <a:p>
            <a:pPr indent="0" marL="0">
              <a:buNone/>
            </a:pPr>
            <a:r>
              <a:rPr lang="en-US" sz="2000" b="1" dirty="0">
                <a:solidFill>
                  <a:schemeClr val="tx1"/>
                </a:solidFill>
              </a:rPr>
              <a:t>Abre tu proyecto</a:t>
            </a:r>
            <a:endParaRPr lang="en-US" sz="2000" dirty="0"/>
          </a:p>
        </p:txBody>
      </p:sp>
      <p:sp>
        <p:nvSpPr>
          <p:cNvPr id="20" name="Text 15"/>
          <p:cNvSpPr txBox="1"/>
          <p:nvPr/>
        </p:nvSpPr>
        <p:spPr>
          <a:xfrm>
            <a:off x="8412480" y="2788920"/>
            <a:ext cx="3108960" cy="640080"/>
          </a:xfrm>
          <a:prstGeom prst="rect">
            <a:avLst/>
          </a:prstGeom>
          <a:noFill/>
          <a:ln/>
        </p:spPr>
        <p:txBody>
          <a:bodyPr wrap="square" lIns="0" tIns="0" rIns="0" bIns="0" rtlCol="0" anchor="t"/>
          <a:lstStyle/>
          <a:p>
            <a:pPr indent="0" marL="0">
              <a:buNone/>
            </a:pPr>
            <a:r>
              <a:rPr lang="en-US" sz="1300" dirty="0">
                <a:solidFill>
                  <a:srgbClr val="475A75"/>
                </a:solidFill>
              </a:rPr>
              <a:t>En la carpeta del proyecto: la TUI o Studio.</a:t>
            </a:r>
            <a:endParaRPr lang="en-US" sz="1300" dirty="0"/>
          </a:p>
        </p:txBody>
      </p:sp>
      <p:sp>
        <p:nvSpPr>
          <p:cNvPr id="21" name="Text 16"/>
          <p:cNvSpPr txBox="1"/>
          <p:nvPr/>
        </p:nvSpPr>
        <p:spPr>
          <a:xfrm>
            <a:off x="822960" y="3520440"/>
            <a:ext cx="3108960" cy="274320"/>
          </a:xfrm>
          <a:prstGeom prst="rect">
            <a:avLst/>
          </a:prstGeom>
          <a:noFill/>
          <a:ln/>
        </p:spPr>
        <p:txBody>
          <a:bodyPr wrap="square" lIns="0" tIns="0" rIns="0" bIns="0" rtlCol="0" anchor="t"/>
          <a:lstStyle/>
          <a:p>
            <a:pPr indent="0" marL="0">
              <a:buNone/>
            </a:pPr>
            <a:r>
              <a:rPr lang="en-US" sz="1100" b="1" dirty="0">
                <a:solidFill>
                  <a:srgbClr val="475A75"/>
                </a:solidFill>
              </a:rPr>
              <a:t>Linux</a:t>
            </a:r>
            <a:endParaRPr lang="en-US" sz="1100" dirty="0"/>
          </a:p>
        </p:txBody>
      </p:sp>
      <p:sp>
        <p:nvSpPr>
          <p:cNvPr id="22" name="código"/>
          <p:cNvSpPr/>
          <p:nvPr/>
        </p:nvSpPr>
        <p:spPr>
          <a:xfrm>
            <a:off x="822960" y="3794760"/>
            <a:ext cx="3063240" cy="457200"/>
          </a:xfrm>
          <a:prstGeom prst="roundRect">
            <a:avLst>
              <a:gd name="adj" fmla="val 20000"/>
            </a:avLst>
          </a:prstGeom>
          <a:solidFill>
            <a:srgbClr val="0F1D33"/>
          </a:solidFill>
          <a:ln/>
        </p:spPr>
      </p:sp>
      <p:sp>
        <p:nvSpPr>
          <p:cNvPr id="23" name="Text 18"/>
          <p:cNvSpPr txBox="1"/>
          <p:nvPr/>
        </p:nvSpPr>
        <p:spPr>
          <a:xfrm>
            <a:off x="987552" y="379476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curl -fsSL …/install.sh | sh</a:t>
            </a:r>
            <a:endParaRPr lang="en-US" sz="1100" dirty="0"/>
          </a:p>
        </p:txBody>
      </p:sp>
      <p:sp>
        <p:nvSpPr>
          <p:cNvPr id="24" name="Text 19"/>
          <p:cNvSpPr txBox="1"/>
          <p:nvPr/>
        </p:nvSpPr>
        <p:spPr>
          <a:xfrm>
            <a:off x="822960" y="4389120"/>
            <a:ext cx="3108960" cy="274320"/>
          </a:xfrm>
          <a:prstGeom prst="rect">
            <a:avLst/>
          </a:prstGeom>
          <a:noFill/>
          <a:ln/>
        </p:spPr>
        <p:txBody>
          <a:bodyPr wrap="square" lIns="0" tIns="0" rIns="0" bIns="0" rtlCol="0" anchor="t"/>
          <a:lstStyle/>
          <a:p>
            <a:pPr indent="0" marL="0">
              <a:buNone/>
            </a:pPr>
            <a:r>
              <a:rPr lang="en-US" sz="1100" b="1" dirty="0">
                <a:solidFill>
                  <a:srgbClr val="475A75"/>
                </a:solidFill>
              </a:rPr>
              <a:t>Windows (PowerShell)</a:t>
            </a:r>
            <a:endParaRPr lang="en-US" sz="1100" dirty="0"/>
          </a:p>
        </p:txBody>
      </p:sp>
      <p:sp>
        <p:nvSpPr>
          <p:cNvPr id="25" name="código"/>
          <p:cNvSpPr/>
          <p:nvPr/>
        </p:nvSpPr>
        <p:spPr>
          <a:xfrm>
            <a:off x="822960" y="4663440"/>
            <a:ext cx="3063240" cy="457200"/>
          </a:xfrm>
          <a:prstGeom prst="roundRect">
            <a:avLst>
              <a:gd name="adj" fmla="val 20000"/>
            </a:avLst>
          </a:prstGeom>
          <a:solidFill>
            <a:srgbClr val="0F1D33"/>
          </a:solidFill>
          <a:ln/>
        </p:spPr>
      </p:sp>
      <p:sp>
        <p:nvSpPr>
          <p:cNvPr id="26" name="Text 21"/>
          <p:cNvSpPr txBox="1"/>
          <p:nvPr/>
        </p:nvSpPr>
        <p:spPr>
          <a:xfrm>
            <a:off x="987552" y="466344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irm …/install.ps1 | iex</a:t>
            </a:r>
            <a:endParaRPr lang="en-US" sz="1100" dirty="0"/>
          </a:p>
        </p:txBody>
      </p:sp>
      <p:sp>
        <p:nvSpPr>
          <p:cNvPr id="27" name="código"/>
          <p:cNvSpPr/>
          <p:nvPr/>
        </p:nvSpPr>
        <p:spPr>
          <a:xfrm>
            <a:off x="4617720" y="3611880"/>
            <a:ext cx="3063240" cy="457200"/>
          </a:xfrm>
          <a:prstGeom prst="roundRect">
            <a:avLst>
              <a:gd name="adj" fmla="val 20000"/>
            </a:avLst>
          </a:prstGeom>
          <a:solidFill>
            <a:srgbClr val="0F1D33"/>
          </a:solidFill>
          <a:ln/>
        </p:spPr>
      </p:sp>
      <p:sp>
        <p:nvSpPr>
          <p:cNvPr id="28" name="Text 23"/>
          <p:cNvSpPr txBox="1"/>
          <p:nvPr/>
        </p:nvSpPr>
        <p:spPr>
          <a:xfrm>
            <a:off x="4782312" y="361188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export ANTHROPIC_API_KEY=…</a:t>
            </a:r>
            <a:endParaRPr lang="en-US" sz="1100" dirty="0"/>
          </a:p>
        </p:txBody>
      </p:sp>
      <p:sp>
        <p:nvSpPr>
          <p:cNvPr id="29" name="código"/>
          <p:cNvSpPr/>
          <p:nvPr/>
        </p:nvSpPr>
        <p:spPr>
          <a:xfrm>
            <a:off x="4617720" y="4206240"/>
            <a:ext cx="3063240" cy="457200"/>
          </a:xfrm>
          <a:prstGeom prst="roundRect">
            <a:avLst>
              <a:gd name="adj" fmla="val 20000"/>
            </a:avLst>
          </a:prstGeom>
          <a:solidFill>
            <a:srgbClr val="0F1D33"/>
          </a:solidFill>
          <a:ln/>
        </p:spPr>
      </p:sp>
      <p:sp>
        <p:nvSpPr>
          <p:cNvPr id="30" name="Text 25"/>
          <p:cNvSpPr txBox="1"/>
          <p:nvPr/>
        </p:nvSpPr>
        <p:spPr>
          <a:xfrm>
            <a:off x="4782312" y="420624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config proveedor ollama</a:t>
            </a:r>
            <a:endParaRPr lang="en-US" sz="1100" dirty="0"/>
          </a:p>
        </p:txBody>
      </p:sp>
      <p:sp>
        <p:nvSpPr>
          <p:cNvPr id="31" name="Text 26"/>
          <p:cNvSpPr txBox="1"/>
          <p:nvPr/>
        </p:nvSpPr>
        <p:spPr>
          <a:xfrm>
            <a:off x="4617720" y="4800600"/>
            <a:ext cx="3063240" cy="320040"/>
          </a:xfrm>
          <a:prstGeom prst="rect">
            <a:avLst/>
          </a:prstGeom>
          <a:noFill/>
          <a:ln/>
        </p:spPr>
        <p:txBody>
          <a:bodyPr wrap="square" lIns="0" tIns="0" rIns="0" bIns="0" rtlCol="0" anchor="t"/>
          <a:lstStyle/>
          <a:p>
            <a:pPr indent="0" marL="0">
              <a:buNone/>
            </a:pPr>
            <a:r>
              <a:rPr lang="en-US" sz="1200" dirty="0">
                <a:solidFill>
                  <a:srgbClr val="475A75"/>
                </a:solidFill>
              </a:rPr>
              <a:t>o Ajustes ⚙ en Studio (Ctrl+,)</a:t>
            </a:r>
            <a:endParaRPr lang="en-US" sz="1200" dirty="0"/>
          </a:p>
        </p:txBody>
      </p:sp>
      <p:sp>
        <p:nvSpPr>
          <p:cNvPr id="32" name="código"/>
          <p:cNvSpPr/>
          <p:nvPr/>
        </p:nvSpPr>
        <p:spPr>
          <a:xfrm>
            <a:off x="8412480" y="3611880"/>
            <a:ext cx="3063240" cy="457200"/>
          </a:xfrm>
          <a:prstGeom prst="roundRect">
            <a:avLst>
              <a:gd name="adj" fmla="val 20000"/>
            </a:avLst>
          </a:prstGeom>
          <a:solidFill>
            <a:srgbClr val="0F1D33"/>
          </a:solidFill>
          <a:ln/>
        </p:spPr>
      </p:sp>
      <p:sp>
        <p:nvSpPr>
          <p:cNvPr id="33" name="Text 28"/>
          <p:cNvSpPr txBox="1"/>
          <p:nvPr/>
        </p:nvSpPr>
        <p:spPr>
          <a:xfrm>
            <a:off x="8577072" y="361188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 la TUI</a:t>
            </a:r>
            <a:endParaRPr lang="en-US" sz="1100" dirty="0"/>
          </a:p>
        </p:txBody>
      </p:sp>
      <p:sp>
        <p:nvSpPr>
          <p:cNvPr id="34" name="código"/>
          <p:cNvSpPr/>
          <p:nvPr/>
        </p:nvSpPr>
        <p:spPr>
          <a:xfrm>
            <a:off x="8412480" y="4206240"/>
            <a:ext cx="3063240" cy="457200"/>
          </a:xfrm>
          <a:prstGeom prst="roundRect">
            <a:avLst>
              <a:gd name="adj" fmla="val 20000"/>
            </a:avLst>
          </a:prstGeom>
          <a:solidFill>
            <a:srgbClr val="0F1D33"/>
          </a:solidFill>
          <a:ln/>
        </p:spPr>
      </p:sp>
      <p:sp>
        <p:nvSpPr>
          <p:cNvPr id="35" name="Text 30"/>
          <p:cNvSpPr txBox="1"/>
          <p:nvPr/>
        </p:nvSpPr>
        <p:spPr>
          <a:xfrm>
            <a:off x="8577072" y="420624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studio    # el editor</a:t>
            </a:r>
            <a:endParaRPr lang="en-US" sz="1100" dirty="0"/>
          </a:p>
        </p:txBody>
      </p:sp>
      <p:sp>
        <p:nvSpPr>
          <p:cNvPr id="36" name="código"/>
          <p:cNvSpPr/>
          <p:nvPr/>
        </p:nvSpPr>
        <p:spPr>
          <a:xfrm>
            <a:off x="8412480" y="4800600"/>
            <a:ext cx="3063240" cy="457200"/>
          </a:xfrm>
          <a:prstGeom prst="roundRect">
            <a:avLst>
              <a:gd name="adj" fmla="val 20000"/>
            </a:avLst>
          </a:prstGeom>
          <a:solidFill>
            <a:srgbClr val="0F1D33"/>
          </a:solidFill>
          <a:ln/>
        </p:spPr>
      </p:sp>
      <p:sp>
        <p:nvSpPr>
          <p:cNvPr id="37" name="Text 32"/>
          <p:cNvSpPr txBox="1"/>
          <p:nvPr/>
        </p:nvSpPr>
        <p:spPr>
          <a:xfrm>
            <a:off x="8577072" y="4800600"/>
            <a:ext cx="2734056" cy="457200"/>
          </a:xfrm>
          <a:prstGeom prst="rect">
            <a:avLst/>
          </a:prstGeom>
          <a:noFill/>
          <a:ln/>
        </p:spPr>
        <p:txBody>
          <a:bodyPr wrap="square" lIns="0" tIns="0" rIns="0" bIns="0" rtlCol="0" anchor="ctr"/>
          <a:lstStyle/>
          <a:p>
            <a:pPr indent="0" marL="0">
              <a:buNone/>
            </a:pPr>
            <a:r>
              <a:rPr lang="en-US" sz="1100" dirty="0">
                <a:solidFill>
                  <a:srgbClr val="CFE0FB"/>
                </a:solidFill>
                <a:latin typeface="Courier New" pitchFamily="34" charset="0"/>
                <a:ea typeface="Courier New" pitchFamily="34" charset="-122"/>
                <a:cs typeface="Courier New" pitchFamily="34" charset="-120"/>
              </a:rPr>
              <a:t>pcode doctor    # comprueba</a:t>
            </a:r>
            <a:endParaRPr lang="en-US" sz="1100" dirty="0"/>
          </a:p>
        </p:txBody>
      </p:sp>
      <p:sp>
        <p:nvSpPr>
          <p:cNvPr id="38" name="Text 33"/>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250" dirty="0">
                <a:solidFill>
                  <a:srgbClr val="475A75"/>
                </a:solidFill>
              </a:rPr>
              <a:t>Las URL completas están en docs/instalacion.md · Actualizar: pcode actualizar · Android: APK de la release para aprobar desde el móvil</a:t>
            </a:r>
            <a:endParaRPr lang="en-US" sz="12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1"/>
                </a:solidFill>
              </a:rPr>
              <a:t>Dónde funciona</a:t>
            </a:r>
            <a:endParaRPr lang="en-US" sz="3200" dirty="0"/>
          </a:p>
        </p:txBody>
      </p:sp>
      <p:graphicFrame>
        <p:nvGraphicFramePr>
          <p:cNvPr id="19" name="tabla plataformas"/>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2834640"/>
                <a:gridCol w="1783080"/>
                <a:gridCol w="1783080"/>
                <a:gridCol w="1463040"/>
              </a:tblGrid>
              <a:tr h="676656">
                <a:tc>
                  <a:txBody>
                    <a:bodyPr/>
                    <a:lstStyle/>
                    <a:p>
                      <a:pPr algn="ctr" indent="0" marL="0">
                        <a:buNone/>
                      </a:pPr>
                      <a:r>
                        <a:rPr lang="en-US" sz="1300" b="1" dirty="0">
                          <a:solidFill>
                            <a:srgbClr val="FFFFFF"/>
                          </a:solidFill>
                        </a:rPr>
                        <a:t>Qué</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Linux x86_64</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Windows 10/11</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c>
                  <a:txBody>
                    <a:bodyPr/>
                    <a:lstStyle/>
                    <a:p>
                      <a:pPr algn="ctr" indent="0" marL="0">
                        <a:buNone/>
                      </a:pPr>
                      <a:r>
                        <a:rPr lang="en-US" sz="1300" b="1" dirty="0">
                          <a:solidFill>
                            <a:srgbClr val="FFFFFF"/>
                          </a:solidFill>
                        </a:rPr>
                        <a:t>Android</a:t>
                      </a:r>
                      <a:endParaRPr lang="en-US" sz="130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0F1D33"/>
                    </a:solidFill>
                  </a:tcPr>
                </a:tc>
              </a:tr>
              <a:tr h="676656">
                <a:tc>
                  <a:txBody>
                    <a:bodyPr/>
                    <a:lstStyle/>
                    <a:p>
                      <a:pPr indent="0" marL="0">
                        <a:buNone/>
                      </a:pPr>
                      <a:r>
                        <a:rPr lang="en-US" sz="1250" dirty="0">
                          <a:solidFill>
                            <a:srgbClr val="0B1B33"/>
                          </a:solidFill>
                        </a:rPr>
                        <a:t>TUI, chat, Studio, demonio</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676656">
                <a:tc>
                  <a:txBody>
                    <a:bodyPr/>
                    <a:lstStyle/>
                    <a:p>
                      <a:pPr indent="0" marL="0">
                        <a:buNone/>
                      </a:pPr>
                      <a:r>
                        <a:rPr lang="en-US" sz="1250" dirty="0">
                          <a:solidFill>
                            <a:srgbClr val="0B1B33"/>
                          </a:solidFill>
                        </a:rPr>
                        <a:t>Modelos en la nube y locales, Ajustes</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676656">
                <a:tc>
                  <a:txBody>
                    <a:bodyPr/>
                    <a:lstStyle/>
                    <a:p>
                      <a:pPr indent="0" marL="0">
                        <a:buNone/>
                      </a:pPr>
                      <a:r>
                        <a:rPr lang="en-US" sz="1250" dirty="0">
                          <a:solidFill>
                            <a:srgbClr val="0B1B33"/>
                          </a:solidFill>
                        </a:rPr>
                        <a:t>Agentes externos en sandbox</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N1: overlay sin red</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N0: git worktree</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475A75"/>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676656">
                <a:tc>
                  <a:txBody>
                    <a:bodyPr/>
                    <a:lstStyle/>
                    <a:p>
                      <a:pPr indent="0" marL="0">
                        <a:buNone/>
                      </a:pPr>
                      <a:r>
                        <a:rPr lang="en-US" sz="1250" dirty="0">
                          <a:solidFill>
                            <a:srgbClr val="0B1B33"/>
                          </a:solidFill>
                        </a:rPr>
                        <a:t>Seguir sesiones y aprobar</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46C2E"/>
                          </a:solidFill>
                        </a:rPr>
                        <a:t>✓ APK</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r h="676656">
                <a:tc>
                  <a:txBody>
                    <a:bodyPr/>
                    <a:lstStyle/>
                    <a:p>
                      <a:pPr indent="0" marL="0">
                        <a:buNone/>
                      </a:pPr>
                      <a:r>
                        <a:rPr lang="en-US" sz="1250" dirty="0">
                          <a:solidFill>
                            <a:srgbClr val="0B1B33"/>
                          </a:solidFill>
                        </a:rPr>
                        <a:t>Instalador</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1B33"/>
                          </a:solidFill>
                        </a:rPr>
                        <a:t>install.sh · ~/.local/bin</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1B33"/>
                          </a:solidFill>
                        </a:rPr>
                        <a:t>install.ps1 · %LOCALAPPDATA%</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1B33"/>
                          </a:solidFill>
                        </a:rPr>
                        <a:t>APK de la release</a:t>
                      </a:r>
                      <a:endParaRPr lang="en-US" sz="1250" dirty="0"/>
                    </a:p>
                  </a:txBody>
                  <a:tcPr marL="73152" marR="73152" marT="73152" marB="73152" anchor="ctr">
                    <a:lnL w="9525" cap="flat" cmpd="sng" algn="ctr">
                      <a:solidFill>
                        <a:srgbClr val="C4D3EA"/>
                      </a:solidFill>
                      <a:prstDash val="solid"/>
                      <a:round/>
                      <a:headEnd type="none" w="med" len="med"/>
                      <a:tailEnd type="none" w="med" len="med"/>
                    </a:lnL>
                    <a:lnR w="9525" cap="flat" cmpd="sng" algn="ctr">
                      <a:solidFill>
                        <a:srgbClr val="C4D3EA"/>
                      </a:solidFill>
                      <a:prstDash val="solid"/>
                      <a:round/>
                      <a:headEnd type="none" w="med" len="med"/>
                      <a:tailEnd type="none" w="med" len="med"/>
                    </a:lnR>
                    <a:lnT w="9525" cap="flat" cmpd="sng" algn="ctr">
                      <a:solidFill>
                        <a:srgbClr val="C4D3EA"/>
                      </a:solidFill>
                      <a:prstDash val="solid"/>
                      <a:round/>
                      <a:headEnd type="none" w="med" len="med"/>
                      <a:tailEnd type="none" w="med" len="med"/>
                    </a:lnT>
                    <a:lnB w="9525" cap="flat" cmpd="sng" algn="ctr">
                      <a:solidFill>
                        <a:srgbClr val="C4D3EA"/>
                      </a:solidFill>
                      <a:prstDash val="solid"/>
                      <a:round/>
                      <a:headEnd type="none" w="med" len="med"/>
                      <a:tailEnd type="none" w="med" len="med"/>
                    </a:lnB>
                    <a:solidFill>
                      <a:srgbClr val="FFFFFF"/>
                    </a:solidFill>
                  </a:tcPr>
                </a:tc>
              </a:tr>
            </a:tbl>
          </a:graphicData>
        </a:graphic>
      </p:graphicFrame>
      <p:sp>
        <p:nvSpPr>
          <p:cNvPr id="4" name="marco studio-movil.png"/>
          <p:cNvSpPr/>
          <p:nvPr/>
        </p:nvSpPr>
        <p:spPr>
          <a:xfrm>
            <a:off x="9134856" y="1271016"/>
            <a:ext cx="2258568" cy="4760038"/>
          </a:xfrm>
          <a:prstGeom prst="roundRect">
            <a:avLst>
              <a:gd name="adj" fmla="val 4858"/>
            </a:avLst>
          </a:prstGeom>
          <a:solidFill>
            <a:srgbClr val="FFFFFF"/>
          </a:solidFill>
          <a:ln w="9525">
            <a:solidFill>
              <a:srgbClr val="C4D3EA"/>
            </a:solidFill>
            <a:prstDash val="solid"/>
          </a:ln>
          <a:effectLst>
            <a:outerShdw sx="100000" sy="100000" kx="0" ky="0" algn="bl" rotWithShape="0" blurRad="127000" dist="38100" dir="5400000">
              <a:srgbClr val="0B1B33">
                <a:alpha val="16000"/>
              </a:srgbClr>
            </a:outerShdw>
          </a:effectLst>
        </p:spPr>
      </p:sp>
      <p:pic>
        <p:nvPicPr>
          <p:cNvPr id="5" name="Image 0" descr="Studio en el móvil">    </p:cNvPr>
          <p:cNvPicPr>
            <a:picLocks noChangeAspect="1"/>
          </p:cNvPicPr>
          <p:nvPr/>
        </p:nvPicPr>
        <p:blipFill>
          <a:blip r:embed="rId1"/>
          <a:stretch>
            <a:fillRect/>
          </a:stretch>
        </p:blipFill>
        <p:spPr>
          <a:xfrm>
            <a:off x="9189720" y="1325880"/>
            <a:ext cx="2148840" cy="4650310"/>
          </a:xfrm>
          <a:prstGeom prst="rect">
            <a:avLst/>
          </a:prstGeom>
        </p:spPr>
      </p:pic>
      <p:sp>
        <p:nvSpPr>
          <p:cNvPr id="6" name="Text 2"/>
          <p:cNvSpPr txBox="1"/>
          <p:nvPr/>
        </p:nvSpPr>
        <p:spPr>
          <a:xfrm>
            <a:off x="548640" y="5532120"/>
            <a:ext cx="7863840" cy="548640"/>
          </a:xfrm>
          <a:prstGeom prst="rect">
            <a:avLst/>
          </a:prstGeom>
          <a:noFill/>
          <a:ln/>
        </p:spPr>
        <p:txBody>
          <a:bodyPr wrap="square" lIns="0" tIns="0" rIns="0" bIns="0" rtlCol="0" anchor="t"/>
          <a:lstStyle/>
          <a:p>
            <a:pPr indent="0" marL="0">
              <a:buNone/>
            </a:pPr>
            <a:r>
              <a:rPr lang="en-US" sz="1350" dirty="0">
                <a:solidFill>
                  <a:srgbClr val="475A75"/>
                </a:solidFill>
              </a:rPr>
              <a:t>Requisitos: git (recomendado), un navegador para Studio y una clave de modelo o un modelo local. Sin dependencias de ejecución.</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75A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146304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Programa con agentes sin perder el control</a:t>
            </a:r>
            <a:endParaRPr lang="en-US" sz="4000" dirty="0"/>
          </a:p>
        </p:txBody>
      </p:sp>
      <p:sp>
        <p:nvSpPr>
          <p:cNvPr id="3" name="Text 1"/>
          <p:cNvSpPr txBox="1"/>
          <p:nvPr/>
        </p:nvSpPr>
        <p:spPr>
          <a:xfrm>
            <a:off x="731520" y="2606040"/>
            <a:ext cx="10058400" cy="548640"/>
          </a:xfrm>
          <a:prstGeom prst="rect">
            <a:avLst/>
          </a:prstGeom>
          <a:noFill/>
          <a:ln/>
        </p:spPr>
        <p:txBody>
          <a:bodyPr wrap="square" lIns="0" tIns="0" rIns="0" bIns="0" rtlCol="0" anchor="ctr"/>
          <a:lstStyle/>
          <a:p>
            <a:pPr indent="0" marL="0">
              <a:buNone/>
            </a:pPr>
            <a:r>
              <a:rPr lang="en-US" sz="1800" dirty="0">
                <a:solidFill>
                  <a:srgbClr val="CFE0FB"/>
                </a:solidFill>
              </a:rPr>
              <a:t>Editor, terminal y agentes en un solo binario, con política, deshacer, revisión y auditoría.</a:t>
            </a:r>
            <a:endParaRPr lang="en-US" sz="1800" dirty="0"/>
          </a:p>
        </p:txBody>
      </p:sp>
      <p:sp>
        <p:nvSpPr>
          <p:cNvPr id="4" name="icono cierre 0"/>
          <p:cNvSpPr/>
          <p:nvPr/>
        </p:nvSpPr>
        <p:spPr>
          <a:xfrm>
            <a:off x="731520" y="3657600"/>
            <a:ext cx="502920" cy="502920"/>
          </a:xfrm>
          <a:prstGeom prst="ellipse">
            <a:avLst/>
          </a:prstGeom>
          <a:solidFill>
            <a:srgbClr val="FFFFFF">
              <a:alpha val="20000"/>
            </a:srgbClr>
          </a:solidFill>
          <a:ln/>
        </p:spPr>
      </p:sp>
      <p:pic>
        <p:nvPicPr>
          <p:cNvPr id="5" name="Image 0" descr="github.com/jlasherasTracasa/PublicCode">    </p:cNvPr>
          <p:cNvPicPr>
            <a:picLocks noChangeAspect="1"/>
          </p:cNvPicPr>
          <p:nvPr/>
        </p:nvPicPr>
        <p:blipFill>
          <a:blip r:embed="rId1"/>
          <a:stretch>
            <a:fillRect/>
          </a:stretch>
        </p:blipFill>
        <p:spPr>
          <a:xfrm>
            <a:off x="850392" y="3776472"/>
            <a:ext cx="265176" cy="265176"/>
          </a:xfrm>
          <a:prstGeom prst="rect">
            <a:avLst/>
          </a:prstGeom>
        </p:spPr>
      </p:pic>
      <p:sp>
        <p:nvSpPr>
          <p:cNvPr id="6" name="Text 3"/>
          <p:cNvSpPr txBox="1"/>
          <p:nvPr/>
        </p:nvSpPr>
        <p:spPr>
          <a:xfrm>
            <a:off x="1417320" y="3657600"/>
            <a:ext cx="6400800" cy="502920"/>
          </a:xfrm>
          <a:prstGeom prst="rect">
            <a:avLst/>
          </a:prstGeom>
          <a:noFill/>
          <a:ln/>
        </p:spPr>
        <p:txBody>
          <a:bodyPr wrap="square" lIns="0" tIns="0" rIns="0" bIns="0" rtlCol="0" anchor="ctr"/>
          <a:lstStyle/>
          <a:p>
            <a:pPr indent="0" marL="0">
              <a:buNone/>
            </a:pPr>
            <a:r>
              <a:rPr lang="en-US" sz="1600" dirty="0">
                <a:solidFill>
                  <a:srgbClr val="FFFFFF"/>
                </a:solidFill>
              </a:rPr>
              <a:t>github.com/jlasherasTracasa/PublicCode</a:t>
            </a:r>
            <a:endParaRPr lang="en-US" sz="1600" dirty="0"/>
          </a:p>
        </p:txBody>
      </p:sp>
      <p:sp>
        <p:nvSpPr>
          <p:cNvPr id="7" name="icono cierre 1"/>
          <p:cNvSpPr/>
          <p:nvPr/>
        </p:nvSpPr>
        <p:spPr>
          <a:xfrm>
            <a:off x="731520" y="4343400"/>
            <a:ext cx="502920" cy="502920"/>
          </a:xfrm>
          <a:prstGeom prst="ellipse">
            <a:avLst/>
          </a:prstGeom>
          <a:solidFill>
            <a:srgbClr val="FFFFFF">
              <a:alpha val="20000"/>
            </a:srgbClr>
          </a:solidFill>
          <a:ln/>
        </p:spPr>
      </p:sp>
      <p:pic>
        <p:nvPicPr>
          <p:cNvPr id="8" name="Image 1" descr="docs/instalacion.md: guía de instalación">    </p:cNvPr>
          <p:cNvPicPr>
            <a:picLocks noChangeAspect="1"/>
          </p:cNvPicPr>
          <p:nvPr/>
        </p:nvPicPr>
        <p:blipFill>
          <a:blip r:embed="rId2"/>
          <a:stretch>
            <a:fillRect/>
          </a:stretch>
        </p:blipFill>
        <p:spPr>
          <a:xfrm>
            <a:off x="850392" y="4462272"/>
            <a:ext cx="265176" cy="265176"/>
          </a:xfrm>
          <a:prstGeom prst="rect">
            <a:avLst/>
          </a:prstGeom>
        </p:spPr>
      </p:pic>
      <p:sp>
        <p:nvSpPr>
          <p:cNvPr id="9" name="Text 5"/>
          <p:cNvSpPr txBox="1"/>
          <p:nvPr/>
        </p:nvSpPr>
        <p:spPr>
          <a:xfrm>
            <a:off x="1417320" y="4343400"/>
            <a:ext cx="6400800" cy="502920"/>
          </a:xfrm>
          <a:prstGeom prst="rect">
            <a:avLst/>
          </a:prstGeom>
          <a:noFill/>
          <a:ln/>
        </p:spPr>
        <p:txBody>
          <a:bodyPr wrap="square" lIns="0" tIns="0" rIns="0" bIns="0" rtlCol="0" anchor="ctr"/>
          <a:lstStyle/>
          <a:p>
            <a:pPr indent="0" marL="0">
              <a:buNone/>
            </a:pPr>
            <a:r>
              <a:rPr lang="en-US" sz="1600" dirty="0">
                <a:solidFill>
                  <a:srgbClr val="FFFFFF"/>
                </a:solidFill>
              </a:rPr>
              <a:t>docs/instalacion.md: guía de instalación</a:t>
            </a:r>
            <a:endParaRPr lang="en-US" sz="1600" dirty="0"/>
          </a:p>
        </p:txBody>
      </p:sp>
      <p:sp>
        <p:nvSpPr>
          <p:cNvPr id="10" name="icono cierre 2"/>
          <p:cNvSpPr/>
          <p:nvPr/>
        </p:nvSpPr>
        <p:spPr>
          <a:xfrm>
            <a:off x="731520" y="5029200"/>
            <a:ext cx="502920" cy="502920"/>
          </a:xfrm>
          <a:prstGeom prst="ellipse">
            <a:avLst/>
          </a:prstGeom>
          <a:solidFill>
            <a:srgbClr val="FFFFFF">
              <a:alpha val="20000"/>
            </a:srgbClr>
          </a:solidFill>
          <a:ln/>
        </p:spPr>
      </p:sp>
      <p:pic>
        <p:nvPicPr>
          <p:cNvPr id="11" name="Image 2" descr="docs/usuario.md: guía de usuario">    </p:cNvPr>
          <p:cNvPicPr>
            <a:picLocks noChangeAspect="1"/>
          </p:cNvPicPr>
          <p:nvPr/>
        </p:nvPicPr>
        <p:blipFill>
          <a:blip r:embed="rId3"/>
          <a:stretch>
            <a:fillRect/>
          </a:stretch>
        </p:blipFill>
        <p:spPr>
          <a:xfrm>
            <a:off x="850392" y="5148072"/>
            <a:ext cx="265176" cy="265176"/>
          </a:xfrm>
          <a:prstGeom prst="rect">
            <a:avLst/>
          </a:prstGeom>
        </p:spPr>
      </p:pic>
      <p:sp>
        <p:nvSpPr>
          <p:cNvPr id="12" name="Text 7"/>
          <p:cNvSpPr txBox="1"/>
          <p:nvPr/>
        </p:nvSpPr>
        <p:spPr>
          <a:xfrm>
            <a:off x="1417320" y="5029200"/>
            <a:ext cx="6400800" cy="502920"/>
          </a:xfrm>
          <a:prstGeom prst="rect">
            <a:avLst/>
          </a:prstGeom>
          <a:noFill/>
          <a:ln/>
        </p:spPr>
        <p:txBody>
          <a:bodyPr wrap="square" lIns="0" tIns="0" rIns="0" bIns="0" rtlCol="0" anchor="ctr"/>
          <a:lstStyle/>
          <a:p>
            <a:pPr indent="0" marL="0">
              <a:buNone/>
            </a:pPr>
            <a:r>
              <a:rPr lang="en-US" sz="1600" dirty="0">
                <a:solidFill>
                  <a:srgbClr val="FFFFFF"/>
                </a:solidFill>
              </a:rPr>
              <a:t>docs/usuario.md: guía de usuario</a:t>
            </a:r>
            <a:endParaRPr lang="en-US" sz="1600" dirty="0"/>
          </a:p>
        </p:txBody>
      </p:sp>
      <p:sp>
        <p:nvSpPr>
          <p:cNvPr id="13" name="terminal cierre"/>
          <p:cNvSpPr/>
          <p:nvPr/>
        </p:nvSpPr>
        <p:spPr>
          <a:xfrm>
            <a:off x="7589520" y="3657600"/>
            <a:ext cx="3886200" cy="1874520"/>
          </a:xfrm>
          <a:prstGeom prst="roundRect">
            <a:avLst>
              <a:gd name="adj" fmla="val 8780"/>
            </a:avLst>
          </a:prstGeom>
          <a:solidFill>
            <a:srgbClr val="08111F"/>
          </a:solidFill>
          <a:ln w="12700">
            <a:solidFill>
              <a:srgbClr val="2A4268"/>
            </a:solidFill>
            <a:prstDash val="solid"/>
          </a:ln>
        </p:spPr>
      </p:sp>
      <p:sp>
        <p:nvSpPr>
          <p:cNvPr id="14" name="Text 9"/>
          <p:cNvSpPr txBox="1"/>
          <p:nvPr/>
        </p:nvSpPr>
        <p:spPr>
          <a:xfrm>
            <a:off x="7818120" y="3794760"/>
            <a:ext cx="3520440" cy="1600200"/>
          </a:xfrm>
          <a:prstGeom prst="rect">
            <a:avLst/>
          </a:prstGeom>
          <a:noFill/>
          <a:ln/>
        </p:spPr>
        <p:txBody>
          <a:bodyPr wrap="square" lIns="0" tIns="0" rIns="0" bIns="0" rtlCol="0" anchor="ctr"/>
          <a:lstStyle/>
          <a:p>
            <a:pPr indent="0" marL="0">
              <a:spcAft>
                <a:spcPts val="600"/>
              </a:spcAft>
              <a:buNone/>
            </a:pPr>
            <a:r>
              <a:rPr lang="en-US" sz="1400" dirty="0">
                <a:solidFill>
                  <a:srgbClr val="8AB4F8"/>
                </a:solidFill>
                <a:latin typeface="Courier New" pitchFamily="34" charset="0"/>
                <a:ea typeface="Courier New" pitchFamily="34" charset="-122"/>
                <a:cs typeface="Courier New" pitchFamily="34" charset="-120"/>
              </a:rPr>
              <a:t>$ </a:t>
            </a:r>
            <a:pPr indent="0" marL="0">
              <a:spcAft>
                <a:spcPts val="600"/>
              </a:spcAft>
              <a:buNone/>
            </a:pPr>
            <a:r>
              <a:rPr lang="en-US" sz="1400" dirty="0">
                <a:solidFill>
                  <a:srgbClr val="FFFFFF"/>
                </a:solidFill>
                <a:latin typeface="Courier New" pitchFamily="34" charset="0"/>
                <a:ea typeface="Courier New" pitchFamily="34" charset="-122"/>
                <a:cs typeface="Courier New" pitchFamily="34" charset="-120"/>
              </a:rPr>
              <a:t>pcode doctor</a:t>
            </a:r>
            <a:endParaRPr lang="en-US" sz="1400" dirty="0"/>
          </a:p>
          <a:p>
            <a:pPr indent="0" marL="0">
              <a:spcAft>
                <a:spcPts val="600"/>
              </a:spcAft>
              <a:buNone/>
            </a:pPr>
            <a:r>
              <a:rPr lang="en-US" sz="1400" dirty="0">
                <a:solidFill>
                  <a:srgbClr val="8AB4F8"/>
                </a:solidFill>
                <a:latin typeface="Courier New" pitchFamily="34" charset="0"/>
                <a:ea typeface="Courier New" pitchFamily="34" charset="-122"/>
                <a:cs typeface="Courier New" pitchFamily="34" charset="-120"/>
              </a:rPr>
              <a:t>$ </a:t>
            </a:r>
            <a:pPr indent="0" marL="0">
              <a:spcAft>
                <a:spcPts val="600"/>
              </a:spcAft>
              <a:buNone/>
            </a:pPr>
            <a:r>
              <a:rPr lang="en-US" sz="1400" dirty="0">
                <a:solidFill>
                  <a:srgbClr val="FFFFFF"/>
                </a:solidFill>
                <a:latin typeface="Courier New" pitchFamily="34" charset="0"/>
                <a:ea typeface="Courier New" pitchFamily="34" charset="-122"/>
                <a:cs typeface="Courier New" pitchFamily="34" charset="-120"/>
              </a:rPr>
              <a:t>pcode studio</a:t>
            </a:r>
            <a:endParaRPr lang="en-US" sz="1400" dirty="0"/>
          </a:p>
          <a:p>
            <a:pPr indent="0" marL="0">
              <a:spcAft>
                <a:spcPts val="600"/>
              </a:spcAft>
              <a:buNone/>
            </a:pPr>
            <a:r>
              <a:rPr lang="en-US" sz="1400" dirty="0">
                <a:solidFill>
                  <a:srgbClr val="8FD9A8"/>
                </a:solidFill>
                <a:latin typeface="Courier New" pitchFamily="34" charset="0"/>
                <a:ea typeface="Courier New" pitchFamily="34" charset="-122"/>
                <a:cs typeface="Courier New" pitchFamily="34" charset="-120"/>
              </a:rPr>
              <a:t>✓ PublicCode Studio en 127.0.0.1</a:t>
            </a:r>
            <a:endParaRPr lang="en-US" sz="1400" dirty="0"/>
          </a:p>
        </p:txBody>
      </p:sp>
    </p:spTree>
  </p:cSld>
  <p:clrMapOvr>
    <a:masterClrMapping/>
  </p:clrMapOvr>
</p:sld>
</file>

<file path=ppt/theme/theme1.xml><?xml version="1.0" encoding="utf-8"?>
<a:theme xmlns:a="http://schemas.openxmlformats.org/drawingml/2006/main" name="PublicCode">
  <a:themeElements>
    <a:clrScheme name="PublicCode">
      <a:dk1>
        <a:srgbClr val="0B1B33"/>
      </a:dk1>
      <a:lt1>
        <a:srgbClr val="FFFFFF"/>
      </a:lt1>
      <a:dk2>
        <a:srgbClr val="0F1D33"/>
      </a:dk2>
      <a:lt2>
        <a:srgbClr val="EAF2FD"/>
      </a:lt2>
      <a:accent1>
        <a:srgbClr val="0B57D0"/>
      </a:accent1>
      <a:accent2>
        <a:srgbClr val="6F5CFF"/>
      </a:accent2>
      <a:accent3>
        <a:srgbClr val="00A3C4"/>
      </a:accent3>
      <a:accent4>
        <a:srgbClr val="146C2E"/>
      </a:accent4>
      <a:accent5>
        <a:srgbClr val="D97706"/>
      </a:accent5>
      <a:accent6>
        <a:srgbClr val="B3261E"/>
      </a:accent6>
      <a:hlink>
        <a:srgbClr val="0B57D0"/>
      </a:hlink>
      <a:folHlink>
        <a:srgbClr val="6F5CFF"/>
      </a:folHlink>
    </a:clrScheme>
    <a:fontScheme name="PublicCo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PublicCode</dc:title>
  <dc:subject>Qué es PublicCode, frente a VS Code y opencode, funciones e instalación</dc:subject>
  <dc:creator>PublicCode</dc:creator>
  <cp:lastModifiedBy>PublicCode</cp:lastModifiedBy>
  <cp:revision>1</cp:revision>
  <dcterms:created xsi:type="dcterms:W3CDTF">2026-11-01T08:46:38Z</dcterms:created>
  <dcterms:modified xsi:type="dcterms:W3CDTF">2026-11-01T08:46:38Z</dcterms:modified>
</cp:coreProperties>
</file>